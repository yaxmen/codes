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65176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892D"/>
                </a:solidFill>
                <a:latin typeface="Aptos"/>
              </a:defRPr>
            </a:pPr>
            <a:r>
              <a:t>TELECOM  /  R4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58368"/>
            <a:ext cx="1115568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Discovery concluído: caminho inicial definido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1261872"/>
            <a:ext cx="10972800" cy="4297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6B7CD"/>
                </a:solidFill>
                <a:latin typeface="Aptos"/>
              </a:defRPr>
            </a:pPr>
            <a:r>
              <a:t>Refinamento com a Operação Telecom (Eduardo) • escopo controlado para a R4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492240"/>
            <a:ext cx="11247120" cy="12801"/>
          </a:xfrm>
          <a:prstGeom prst="rect">
            <a:avLst/>
          </a:prstGeom>
          <a:solidFill>
            <a:srgbClr val="3E5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47104"/>
            <a:ext cx="111556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6B7CD"/>
                </a:solidFill>
                <a:latin typeface="Aptos"/>
              </a:defRPr>
            </a:pPr>
            <a:r>
              <a:t>DISCOVERY • FALHA DE BACKUP                                    STATUS 23/10/2026                                      1 /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" y="1847088"/>
            <a:ext cx="5440680" cy="1828800"/>
          </a:xfrm>
          <a:prstGeom prst="roundRect">
            <a:avLst>
              <a:gd name="adj" fmla="val 16000"/>
            </a:avLst>
          </a:prstGeom>
          <a:solidFill>
            <a:srgbClr val="15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" y="1847088"/>
            <a:ext cx="50292" cy="1828800"/>
          </a:xfrm>
          <a:prstGeom prst="rect">
            <a:avLst/>
          </a:prstGeom>
          <a:solidFill>
            <a:srgbClr val="FF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2011680"/>
            <a:ext cx="5102352" cy="40233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2F6FC"/>
                </a:solidFill>
                <a:latin typeface="Aptos"/>
              </a:defRPr>
            </a:pPr>
            <a:r>
              <a:t>O que identificamos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542032"/>
            <a:ext cx="5102352" cy="10241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6B7CD"/>
                </a:solidFill>
                <a:latin typeface="Aptos"/>
              </a:defRPr>
            </a:pPr>
            <a:r>
              <a:t>Tratativa parte do acesso ao equipamento, seguida de nova tentativa de backup pelo ItaúMon e diagnóstico de SCP / armazenamento.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62472" y="1847088"/>
            <a:ext cx="5623560" cy="1828800"/>
          </a:xfrm>
          <a:prstGeom prst="roundRect">
            <a:avLst>
              <a:gd name="adj" fmla="val 16000"/>
            </a:avLst>
          </a:prstGeom>
          <a:solidFill>
            <a:srgbClr val="15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062472" y="1847088"/>
            <a:ext cx="50292" cy="1828800"/>
          </a:xfrm>
          <a:prstGeom prst="rect">
            <a:avLst/>
          </a:prstGeom>
          <a:solidFill>
            <a:srgbClr val="45C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36208" y="2011680"/>
            <a:ext cx="5285232" cy="40233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2F6FC"/>
                </a:solidFill>
                <a:latin typeface="Aptos"/>
              </a:defRPr>
            </a:pPr>
            <a:r>
              <a:t>Oportunidade para o MVP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36208" y="2542032"/>
            <a:ext cx="5285232" cy="10241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6B7CD"/>
                </a:solidFill>
                <a:latin typeface="Aptos"/>
              </a:defRPr>
            </a:pPr>
            <a:r>
              <a:t>Cisco IOS e ASA como base inicial; automatizar verificações, correção simples e autorizada, nova tentativa de backup e validação.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" y="3831336"/>
            <a:ext cx="5440680" cy="1920240"/>
          </a:xfrm>
          <a:prstGeom prst="roundRect">
            <a:avLst>
              <a:gd name="adj" fmla="val 16000"/>
            </a:avLst>
          </a:prstGeom>
          <a:solidFill>
            <a:srgbClr val="15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" y="3831336"/>
            <a:ext cx="50292" cy="1920240"/>
          </a:xfrm>
          <a:prstGeom prst="rect">
            <a:avLst/>
          </a:prstGeom>
          <a:solidFill>
            <a:srgbClr val="F5696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3995928"/>
            <a:ext cx="5102352" cy="40233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2F6FC"/>
                </a:solidFill>
                <a:latin typeface="Aptos"/>
              </a:defRPr>
            </a:pPr>
            <a:r>
              <a:t>Exceções fora do MVP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4526280"/>
            <a:ext cx="5102352" cy="11155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6B7CD"/>
                </a:solidFill>
                <a:latin typeface="Aptos"/>
              </a:defRPr>
            </a:pPr>
            <a:r>
              <a:t>Falha física, credencial compartilhada, limpeza de arquivos, mudanças complexas e correções que exijam GMUD ou outras equipes.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062472" y="3831336"/>
            <a:ext cx="5623560" cy="1920240"/>
          </a:xfrm>
          <a:prstGeom prst="roundRect">
            <a:avLst>
              <a:gd name="adj" fmla="val 16000"/>
            </a:avLst>
          </a:prstGeom>
          <a:solidFill>
            <a:srgbClr val="15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062472" y="3831336"/>
            <a:ext cx="50292" cy="1920240"/>
          </a:xfrm>
          <a:prstGeom prst="rect">
            <a:avLst/>
          </a:prstGeom>
          <a:solidFill>
            <a:srgbClr val="4D9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36208" y="3995928"/>
            <a:ext cx="5285232" cy="40233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2F6FC"/>
                </a:solidFill>
                <a:latin typeface="Aptos"/>
              </a:defRPr>
            </a:pPr>
            <a:r>
              <a:t>Evoluções futuras (a avaliar)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36208" y="4526280"/>
            <a:ext cx="5285232" cy="11155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6B7CD"/>
                </a:solidFill>
                <a:latin typeface="Aptos"/>
              </a:defRPr>
            </a:pPr>
            <a:r>
              <a:t>Consulta a incidentes e CHGs no ServiceNow; outros sistemas Cisco (IOS-XE, IOS-XR, NX-OS); regras mais amplas de remediação.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65176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892D"/>
                </a:solidFill>
                <a:latin typeface="Aptos"/>
              </a:defRPr>
            </a:pPr>
            <a:r>
              <a:t>TELECOM  /  R4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58368"/>
            <a:ext cx="1115568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Protótipo AAP: inventário já disponível em DEV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1261872"/>
            <a:ext cx="10972800" cy="4297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6B7CD"/>
                </a:solidFill>
                <a:latin typeface="Aptos"/>
              </a:defRPr>
            </a:pPr>
            <a:r>
              <a:t>Marco técnico da semana: plugin ItaúMon → inventário AAP executado com sucesso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492240"/>
            <a:ext cx="11247120" cy="12801"/>
          </a:xfrm>
          <a:prstGeom prst="rect">
            <a:avLst/>
          </a:prstGeom>
          <a:solidFill>
            <a:srgbClr val="3E5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47104"/>
            <a:ext cx="111556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6B7CD"/>
                </a:solidFill>
                <a:latin typeface="Aptos"/>
              </a:defRPr>
            </a:pPr>
            <a:r>
              <a:t>DISCOVERY • FALHA DE BACKUP                                    STATUS 23/10/2026                                      2 /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" y="1856231"/>
            <a:ext cx="2971800" cy="1115568"/>
          </a:xfrm>
          <a:prstGeom prst="roundRect">
            <a:avLst>
              <a:gd name="adj" fmla="val 16000"/>
            </a:avLst>
          </a:prstGeom>
          <a:solidFill>
            <a:srgbClr val="1C2F49"/>
          </a:solidFill>
          <a:ln w="16510">
            <a:solidFill>
              <a:srgbClr val="FF8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67512" y="2029968"/>
            <a:ext cx="246888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>
              <a:spcAft>
                <a:spcPts val="700"/>
              </a:spcAft>
              <a:defRPr sz="1800" b="1">
                <a:solidFill>
                  <a:srgbClr val="F2F6FC"/>
                </a:solidFill>
                <a:latin typeface="Aptos"/>
              </a:defRPr>
            </a:pPr>
            <a:r>
              <a:t>ITAÚMON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2450592"/>
            <a:ext cx="2697480" cy="27432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A6B7CD"/>
                </a:solidFill>
                <a:latin typeface="Aptos"/>
              </a:defRPr>
            </a:pPr>
            <a:r>
              <a:t>API + plugin de importação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483864" y="2423160"/>
            <a:ext cx="585216" cy="0"/>
          </a:xfrm>
          <a:prstGeom prst="line">
            <a:avLst/>
          </a:prstGeom>
          <a:ln w="27940">
            <a:solidFill>
              <a:srgbClr val="FF892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3995928" y="2354579"/>
            <a:ext cx="146304" cy="137160"/>
          </a:xfrm>
          <a:prstGeom prst="chevron">
            <a:avLst/>
          </a:prstGeom>
          <a:solidFill>
            <a:srgbClr val="FF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123944" y="1856231"/>
            <a:ext cx="3337560" cy="1115568"/>
          </a:xfrm>
          <a:prstGeom prst="roundRect">
            <a:avLst>
              <a:gd name="adj" fmla="val 16000"/>
            </a:avLst>
          </a:prstGeom>
          <a:solidFill>
            <a:srgbClr val="1C2F49"/>
          </a:solidFill>
          <a:ln w="16510">
            <a:solidFill>
              <a:srgbClr val="45C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51960" y="2029968"/>
            <a:ext cx="306324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2F6FC"/>
                </a:solidFill>
                <a:latin typeface="Aptos"/>
              </a:defRPr>
            </a:pPr>
            <a:r>
              <a:t>AAP DEV  •  INVENTÁRIO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70248" y="2450592"/>
            <a:ext cx="3035808" cy="29260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45CF8F"/>
                </a:solidFill>
                <a:latin typeface="Aptos"/>
              </a:defRPr>
            </a:pPr>
            <a:r>
              <a:t>Hosts Cisco IOS e ASA importados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507224" y="2423160"/>
            <a:ext cx="530351" cy="0"/>
          </a:xfrm>
          <a:prstGeom prst="line">
            <a:avLst/>
          </a:prstGeom>
          <a:ln w="27940">
            <a:solidFill>
              <a:srgbClr val="4D9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hevron 16"/>
          <p:cNvSpPr/>
          <p:nvPr/>
        </p:nvSpPr>
        <p:spPr>
          <a:xfrm>
            <a:off x="7964423" y="2354579"/>
            <a:ext cx="146304" cy="137160"/>
          </a:xfrm>
          <a:prstGeom prst="chevron">
            <a:avLst/>
          </a:prstGeom>
          <a:solidFill>
            <a:srgbClr val="4D9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101583" y="1856231"/>
            <a:ext cx="3584448" cy="1115568"/>
          </a:xfrm>
          <a:prstGeom prst="roundRect">
            <a:avLst>
              <a:gd name="adj" fmla="val 16000"/>
            </a:avLst>
          </a:prstGeom>
          <a:solidFill>
            <a:srgbClr val="1C2F49"/>
          </a:solidFill>
          <a:ln w="16510">
            <a:solidFill>
              <a:srgbClr val="4D9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66175" y="2029968"/>
            <a:ext cx="3273552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2F6FC"/>
                </a:solidFill>
                <a:latin typeface="Aptos"/>
              </a:defRPr>
            </a:pPr>
            <a:r>
              <a:t>JOB / WORKFLOW AAP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47888" y="2450592"/>
            <a:ext cx="3291840" cy="29260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A6B7CD"/>
                </a:solidFill>
                <a:latin typeface="Aptos"/>
              </a:defRPr>
            </a:pPr>
            <a:r>
              <a:t>Conectividade → diagnóstico</a:t>
            </a:r>
          </a:p>
        </p:txBody>
      </p:sp>
      <p:cxnSp>
        <p:nvCxnSpPr>
          <p:cNvPr id="21" name="Connector 20"/>
          <p:cNvCxnSpPr/>
          <p:nvPr/>
        </p:nvCxnSpPr>
        <p:spPr>
          <a:xfrm>
            <a:off x="9866376" y="2999232"/>
            <a:ext cx="0" cy="502920"/>
          </a:xfrm>
          <a:prstGeom prst="line">
            <a:avLst/>
          </a:prstGeom>
          <a:ln w="27940">
            <a:solidFill>
              <a:srgbClr val="4D9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Chevron 21"/>
          <p:cNvSpPr/>
          <p:nvPr/>
        </p:nvSpPr>
        <p:spPr>
          <a:xfrm>
            <a:off x="9793224" y="3433572"/>
            <a:ext cx="146304" cy="137160"/>
          </a:xfrm>
          <a:prstGeom prst="chevron">
            <a:avLst/>
          </a:prstGeom>
          <a:solidFill>
            <a:srgbClr val="4D9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101583" y="3557016"/>
            <a:ext cx="3584448" cy="1115568"/>
          </a:xfrm>
          <a:prstGeom prst="roundRect">
            <a:avLst>
              <a:gd name="adj" fmla="val 16000"/>
            </a:avLst>
          </a:prstGeom>
          <a:solidFill>
            <a:srgbClr val="1C2F49"/>
          </a:solidFill>
          <a:ln w="16510">
            <a:solidFill>
              <a:srgbClr val="FF892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75320" y="3730752"/>
            <a:ext cx="3218688" cy="31089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2F6FC"/>
                </a:solidFill>
                <a:latin typeface="Aptos"/>
              </a:defRPr>
            </a:pPr>
            <a:r>
              <a:t>ITAÚMON • NOVO BACKUP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4133087"/>
            <a:ext cx="3291840" cy="29260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A6B7CD"/>
                </a:solidFill>
                <a:latin typeface="Aptos"/>
              </a:defRPr>
            </a:pPr>
            <a:r>
              <a:t>API e confirmação: a validar</a:t>
            </a:r>
          </a:p>
        </p:txBody>
      </p:sp>
      <p:cxnSp>
        <p:nvCxnSpPr>
          <p:cNvPr id="26" name="Connector 25"/>
          <p:cNvCxnSpPr/>
          <p:nvPr/>
        </p:nvCxnSpPr>
        <p:spPr>
          <a:xfrm flipH="1">
            <a:off x="7507224" y="4133087"/>
            <a:ext cx="576072" cy="0"/>
          </a:xfrm>
          <a:prstGeom prst="line">
            <a:avLst/>
          </a:prstGeom>
          <a:ln w="27940">
            <a:solidFill>
              <a:srgbClr val="4D9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Chevron 26"/>
          <p:cNvSpPr/>
          <p:nvPr/>
        </p:nvSpPr>
        <p:spPr>
          <a:xfrm>
            <a:off x="7434072" y="4064507"/>
            <a:ext cx="146304" cy="137160"/>
          </a:xfrm>
          <a:prstGeom prst="chevron">
            <a:avLst/>
          </a:prstGeom>
          <a:solidFill>
            <a:srgbClr val="4D9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4123944" y="3557016"/>
            <a:ext cx="3337560" cy="1115568"/>
          </a:xfrm>
          <a:prstGeom prst="roundRect">
            <a:avLst>
              <a:gd name="adj" fmla="val 16000"/>
            </a:avLst>
          </a:prstGeom>
          <a:solidFill>
            <a:srgbClr val="1C2F49"/>
          </a:solidFill>
          <a:ln w="16510">
            <a:solidFill>
              <a:srgbClr val="4D9FF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79392" y="3730752"/>
            <a:ext cx="3035808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>
              <a:spcAft>
                <a:spcPts val="700"/>
              </a:spcAft>
              <a:defRPr sz="1600" b="1">
                <a:solidFill>
                  <a:srgbClr val="F2F6FC"/>
                </a:solidFill>
                <a:latin typeface="Aptos"/>
              </a:defRPr>
            </a:pPr>
            <a:r>
              <a:t>DECISÃO / EVIDÊNCIAS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97680" y="4133087"/>
            <a:ext cx="2999232" cy="29260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>
              <a:spcAft>
                <a:spcPts val="700"/>
              </a:spcAft>
              <a:defRPr sz="1200" b="0">
                <a:solidFill>
                  <a:srgbClr val="A6B7CD"/>
                </a:solidFill>
                <a:latin typeface="Aptos"/>
              </a:defRPr>
            </a:pPr>
            <a:r>
              <a:t>Sucesso ou encaminhamento</a:t>
            </a:r>
          </a:p>
        </p:txBody>
      </p:sp>
      <p:cxnSp>
        <p:nvCxnSpPr>
          <p:cNvPr id="31" name="Connector 30"/>
          <p:cNvCxnSpPr/>
          <p:nvPr/>
        </p:nvCxnSpPr>
        <p:spPr>
          <a:xfrm flipH="1">
            <a:off x="3511296" y="4133087"/>
            <a:ext cx="585216" cy="0"/>
          </a:xfrm>
          <a:prstGeom prst="line">
            <a:avLst/>
          </a:prstGeom>
          <a:ln w="27940">
            <a:solidFill>
              <a:srgbClr val="4D9FF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Chevron 31"/>
          <p:cNvSpPr/>
          <p:nvPr/>
        </p:nvSpPr>
        <p:spPr>
          <a:xfrm>
            <a:off x="3438144" y="4064507"/>
            <a:ext cx="146304" cy="137160"/>
          </a:xfrm>
          <a:prstGeom prst="chevron">
            <a:avLst/>
          </a:prstGeom>
          <a:solidFill>
            <a:srgbClr val="4D9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475488" y="3557016"/>
            <a:ext cx="2971800" cy="1115568"/>
          </a:xfrm>
          <a:prstGeom prst="roundRect">
            <a:avLst>
              <a:gd name="adj" fmla="val 16000"/>
            </a:avLst>
          </a:prstGeom>
          <a:solidFill>
            <a:srgbClr val="1C2F49"/>
          </a:solidFill>
          <a:ln w="16510">
            <a:solidFill>
              <a:srgbClr val="45CF8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58368" y="3730752"/>
            <a:ext cx="256032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>
              <a:spcAft>
                <a:spcPts val="700"/>
              </a:spcAft>
              <a:defRPr sz="1700" b="1">
                <a:solidFill>
                  <a:srgbClr val="F2F6FC"/>
                </a:solidFill>
                <a:latin typeface="Aptos"/>
              </a:defRPr>
            </a:pPr>
            <a:r>
              <a:t>SERVICENOW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03504" y="4133087"/>
            <a:ext cx="2743200" cy="29260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 algn="ctr">
              <a:spcAft>
                <a:spcPts val="700"/>
              </a:spcAft>
              <a:defRPr sz="1100" b="0">
                <a:solidFill>
                  <a:srgbClr val="A6B7CD"/>
                </a:solidFill>
                <a:latin typeface="Aptos"/>
              </a:defRPr>
            </a:pPr>
            <a:r>
              <a:t>Encerrar só com backup validado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493776" y="5093208"/>
            <a:ext cx="11155680" cy="658368"/>
          </a:xfrm>
          <a:prstGeom prst="roundRect">
            <a:avLst>
              <a:gd name="adj" fmla="val 16000"/>
            </a:avLst>
          </a:prstGeom>
          <a:solidFill>
            <a:srgbClr val="15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13232" y="5294376"/>
            <a:ext cx="10789920" cy="283464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300" b="1">
                <a:solidFill>
                  <a:srgbClr val="F2F6FC"/>
                </a:solidFill>
                <a:latin typeface="Aptos"/>
              </a:defRPr>
            </a:pPr>
            <a:r>
              <a:t>CONCLUÍDO  Inventário IOS + ASA em DEV     |     PENDENTE  Alcance, credencial KL9, API ItaúMon e contratos ServiceNow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14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0584" cy="6858000"/>
          </a:xfrm>
          <a:prstGeom prst="rect">
            <a:avLst/>
          </a:prstGeom>
          <a:solidFill>
            <a:srgbClr val="FF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29768" y="265176"/>
            <a:ext cx="4572000" cy="32004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200" b="1">
                <a:solidFill>
                  <a:srgbClr val="FF892D"/>
                </a:solidFill>
                <a:latin typeface="Aptos"/>
              </a:defRPr>
            </a:pPr>
            <a:r>
              <a:t>TELECOM  /  R4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" y="658368"/>
            <a:ext cx="11155680" cy="56692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2800" b="1">
                <a:solidFill>
                  <a:srgbClr val="F2F6FC"/>
                </a:solidFill>
                <a:latin typeface="Aptos"/>
              </a:defRPr>
            </a:pPr>
            <a:r>
              <a:t>Próximos passos e dependências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8056" y="1261872"/>
            <a:ext cx="10972800" cy="4297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300" b="0">
                <a:solidFill>
                  <a:srgbClr val="A6B7CD"/>
                </a:solidFill>
                <a:latin typeface="Aptos"/>
              </a:defRPr>
            </a:pPr>
            <a:r>
              <a:t>Prioridade: transformar o inventário disponível em um MVP testável e seguro</a:t>
            </a:r>
          </a:p>
        </p:txBody>
      </p:sp>
      <p:sp>
        <p:nvSpPr>
          <p:cNvPr id="6" name="Rectangle 5"/>
          <p:cNvSpPr/>
          <p:nvPr/>
        </p:nvSpPr>
        <p:spPr>
          <a:xfrm>
            <a:off x="438912" y="6492240"/>
            <a:ext cx="11247120" cy="12801"/>
          </a:xfrm>
          <a:prstGeom prst="rect">
            <a:avLst/>
          </a:prstGeom>
          <a:solidFill>
            <a:srgbClr val="3E50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75488" y="6547104"/>
            <a:ext cx="11155680" cy="201168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900" b="0">
                <a:solidFill>
                  <a:srgbClr val="A6B7CD"/>
                </a:solidFill>
                <a:latin typeface="Aptos"/>
              </a:defRPr>
            </a:pPr>
            <a:r>
              <a:t>DISCOVERY • FALHA DE BACKUP                                    STATUS 23/10/2026                                      3 / 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48056" y="1828800"/>
            <a:ext cx="5486400" cy="1243584"/>
          </a:xfrm>
          <a:prstGeom prst="roundRect">
            <a:avLst>
              <a:gd name="adj" fmla="val 16000"/>
            </a:avLst>
          </a:prstGeom>
          <a:solidFill>
            <a:srgbClr val="15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48056" y="1828800"/>
            <a:ext cx="50292" cy="1243584"/>
          </a:xfrm>
          <a:prstGeom prst="rect">
            <a:avLst/>
          </a:prstGeom>
          <a:solidFill>
            <a:srgbClr val="FF89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21792" y="1993392"/>
            <a:ext cx="5148072" cy="40233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2F6FC"/>
                </a:solidFill>
                <a:latin typeface="Aptos"/>
              </a:defRPr>
            </a:pPr>
            <a:r>
              <a:t>1  Validar acesso aos hosts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523744"/>
            <a:ext cx="5148072" cy="4389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6B7CD"/>
                </a:solidFill>
                <a:latin typeface="Aptos"/>
              </a:defRPr>
            </a:pPr>
            <a:r>
              <a:t>Testar alcance, SSH e autenticação; confirmar se a credencial KL9 atende.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48056" y="3218688"/>
            <a:ext cx="5486400" cy="1243584"/>
          </a:xfrm>
          <a:prstGeom prst="roundRect">
            <a:avLst>
              <a:gd name="adj" fmla="val 16000"/>
            </a:avLst>
          </a:prstGeom>
          <a:solidFill>
            <a:srgbClr val="15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8056" y="3218688"/>
            <a:ext cx="50292" cy="1243584"/>
          </a:xfrm>
          <a:prstGeom prst="rect">
            <a:avLst/>
          </a:prstGeom>
          <a:solidFill>
            <a:srgbClr val="4D9FF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" y="3383280"/>
            <a:ext cx="5148072" cy="40233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2F6FC"/>
                </a:solidFill>
                <a:latin typeface="Aptos"/>
              </a:defRPr>
            </a:pPr>
            <a:r>
              <a:t>2  Preparar execução no AAP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" y="3913632"/>
            <a:ext cx="5148072" cy="4389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6B7CD"/>
                </a:solidFill>
                <a:latin typeface="Aptos"/>
              </a:defRPr>
            </a:pPr>
            <a:r>
              <a:t>Ajustar EE, collections, inventários, variáveis e permissões por plataforma.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48056" y="4608576"/>
            <a:ext cx="5486400" cy="1243584"/>
          </a:xfrm>
          <a:prstGeom prst="roundRect">
            <a:avLst>
              <a:gd name="adj" fmla="val 16000"/>
            </a:avLst>
          </a:prstGeom>
          <a:solidFill>
            <a:srgbClr val="15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" y="4608576"/>
            <a:ext cx="50292" cy="1243584"/>
          </a:xfrm>
          <a:prstGeom prst="rect">
            <a:avLst/>
          </a:prstGeom>
          <a:solidFill>
            <a:srgbClr val="45CF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1792" y="4773168"/>
            <a:ext cx="5148072" cy="402336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700" b="1">
                <a:solidFill>
                  <a:srgbClr val="F2F6FC"/>
                </a:solidFill>
                <a:latin typeface="Aptos"/>
              </a:defRPr>
            </a:pPr>
            <a:r>
              <a:t>3  Construir o primeiro caminho E2E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1792" y="5303520"/>
            <a:ext cx="5148072" cy="438912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400" b="0">
                <a:solidFill>
                  <a:srgbClr val="A6B7CD"/>
                </a:solidFill>
                <a:latin typeface="Aptos"/>
              </a:defRPr>
            </a:pPr>
            <a:r>
              <a:t>Diagnóstico → ItaúMon → validação → evidência → ServiceNow.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72200" y="1828800"/>
            <a:ext cx="5504688" cy="4023360"/>
          </a:xfrm>
          <a:prstGeom prst="roundRect">
            <a:avLst>
              <a:gd name="adj" fmla="val 16000"/>
            </a:avLst>
          </a:prstGeom>
          <a:solidFill>
            <a:srgbClr val="1525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2048256"/>
            <a:ext cx="4937760" cy="36576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900" b="1">
                <a:solidFill>
                  <a:srgbClr val="F2F6FC"/>
                </a:solidFill>
                <a:latin typeface="Aptos"/>
              </a:defRPr>
            </a:pPr>
            <a:r>
              <a:t>Pontos de atenção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19088" y="2651760"/>
            <a:ext cx="4892040" cy="2971800"/>
          </a:xfrm>
          <a:prstGeom prst="rect">
            <a:avLst/>
          </a:prstGeom>
          <a:noFill/>
        </p:spPr>
        <p:txBody>
          <a:bodyPr wrap="square" lIns="27432" rIns="27432" tIns="18288">
            <a:spAutoFit/>
          </a:bodyPr>
          <a:lstStyle/>
          <a:p>
            <a:pPr>
              <a:spcAft>
                <a:spcPts val="700"/>
              </a:spcAft>
              <a:defRPr sz="1500" b="0">
                <a:solidFill>
                  <a:srgbClr val="A6B7CD"/>
                </a:solidFill>
                <a:latin typeface="Aptos"/>
              </a:defRPr>
            </a:pPr>
            <a:r>
              <a:t>• API ItaúMon: acionamento e leitura do resultado</a:t>
            </a:r>
          </a:p>
          <a:p>
            <a:pPr>
              <a:spcAft>
                <a:spcPts val="700"/>
              </a:spcAft>
              <a:defRPr sz="1500" b="0">
                <a:solidFill>
                  <a:srgbClr val="A6B7CD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A6B7CD"/>
                </a:solidFill>
                <a:latin typeface="Aptos"/>
              </a:defRPr>
            </a:pPr>
            <a:r>
              <a:t>• Regras de correção SCP: autorização e idempotência</a:t>
            </a:r>
          </a:p>
          <a:p>
            <a:pPr>
              <a:spcAft>
                <a:spcPts val="700"/>
              </a:spcAft>
              <a:defRPr sz="1500" b="0">
                <a:solidFill>
                  <a:srgbClr val="A6B7CD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A6B7CD"/>
                </a:solidFill>
                <a:latin typeface="Aptos"/>
              </a:defRPr>
            </a:pPr>
            <a:r>
              <a:t>• ServiceNow: consulta, atualização e encerramento</a:t>
            </a:r>
          </a:p>
          <a:p>
            <a:pPr>
              <a:spcAft>
                <a:spcPts val="700"/>
              </a:spcAft>
              <a:defRPr sz="1500" b="0">
                <a:solidFill>
                  <a:srgbClr val="A6B7CD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A6B7CD"/>
                </a:solidFill>
                <a:latin typeface="Aptos"/>
              </a:defRPr>
            </a:pPr>
            <a:r>
              <a:t>• Falhas fora do escopo: registrar e encaminhar</a:t>
            </a:r>
          </a:p>
          <a:p>
            <a:pPr>
              <a:spcAft>
                <a:spcPts val="700"/>
              </a:spcAft>
              <a:defRPr sz="1500" b="0">
                <a:solidFill>
                  <a:srgbClr val="A6B7CD"/>
                </a:solidFill>
                <a:latin typeface="Aptos"/>
              </a:defRPr>
            </a:pPr>
          </a:p>
          <a:p>
            <a:pPr>
              <a:spcAft>
                <a:spcPts val="700"/>
              </a:spcAft>
              <a:defRPr sz="1500" b="0">
                <a:solidFill>
                  <a:srgbClr val="A6B7CD"/>
                </a:solidFill>
                <a:latin typeface="Aptos"/>
              </a:defRPr>
            </a:pPr>
            <a:r>
              <a:t>• Expansão para outras plataformas: após validar MVP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