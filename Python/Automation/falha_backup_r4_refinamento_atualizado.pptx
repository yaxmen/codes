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FALHA DE BACKUP  |  AUTOMAÇÃO AAP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Refinamento com Operação Telecom • escopo inicial, fluxo, dependências e continuidade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0972800" cy="2011680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9144000" cy="475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8C32"/>
                </a:solidFill>
                <a:latin typeface="Aptos"/>
              </a:defRPr>
            </a:pPr>
            <a:r>
              <a:t>MVP R4  •  CISCO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005840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3F6FA"/>
                </a:solidFill>
                <a:latin typeface="Aptos"/>
              </a:defRPr>
            </a:pPr>
            <a:r>
              <a:t>Diagnosticar → remediar com segurança → solicitar backup → validar → encerrar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3474720" cy="169164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050791"/>
            <a:ext cx="3182112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2B4EF"/>
                </a:solidFill>
                <a:latin typeface="Aptos"/>
              </a:defRPr>
            </a:pPr>
            <a:r>
              <a:t>ESCOPO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462272"/>
            <a:ext cx="3163824" cy="108813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F6FA"/>
                </a:solidFill>
                <a:latin typeface="Aptos"/>
              </a:defRPr>
            </a:pPr>
            <a:r>
              <a:t>IOS primeiro; expansão avaliada para IOS-XE, IOS-XR, NX-OS e ASA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931920"/>
            <a:ext cx="3474720" cy="169164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3CC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4050791"/>
            <a:ext cx="3182112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CCB87"/>
                </a:solidFill>
                <a:latin typeface="Aptos"/>
              </a:defRPr>
            </a:pPr>
            <a:r>
              <a:t>REGRA DE OURO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4462272"/>
            <a:ext cx="3163824" cy="108813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F6FA"/>
                </a:solidFill>
                <a:latin typeface="Aptos"/>
              </a:defRPr>
            </a:pPr>
            <a:r>
              <a:t>Só encerrar incidente com sucesso do backup confirmado no ItaúMon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3931920"/>
            <a:ext cx="3474720" cy="169164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4050791"/>
            <a:ext cx="3182112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6376"/>
                </a:solidFill>
                <a:latin typeface="Aptos"/>
              </a:defRPr>
            </a:pPr>
            <a:r>
              <a:t>EXCEÇÕES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4462272"/>
            <a:ext cx="3163824" cy="108813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F6FA"/>
                </a:solidFill>
                <a:latin typeface="Aptos"/>
              </a:defRPr>
            </a:pPr>
            <a:r>
              <a:t>Casos complexos e sem correção autorizada seguem para operação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01  |  Escopo e fronteiras do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Definições preliminares baseadas no KB e nos alinhamentos com Eduardo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2788920" cy="566928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353312"/>
            <a:ext cx="7955279" cy="566928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44752"/>
            <a:ext cx="256032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1426464"/>
            <a:ext cx="7644383" cy="420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3F6FA"/>
                </a:solidFill>
                <a:latin typeface="Aptos"/>
              </a:defRPr>
            </a:pPr>
            <a:r>
              <a:t>Tratamento fim a fim de falhas de backup elegíveis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20824"/>
            <a:ext cx="2788920" cy="566928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2020824"/>
            <a:ext cx="7955279" cy="566928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112264"/>
            <a:ext cx="256032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Origem / retorno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093976"/>
            <a:ext cx="7644383" cy="420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3F6FA"/>
                </a:solidFill>
                <a:latin typeface="Aptos"/>
              </a:defRPr>
            </a:pPr>
            <a:r>
              <a:t>ServiceNow (incidente) e ItaúMon (backup)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88336"/>
            <a:ext cx="2788920" cy="566928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2688336"/>
            <a:ext cx="7955279" cy="566928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779776"/>
            <a:ext cx="256032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761488"/>
            <a:ext cx="7644383" cy="420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3F6FA"/>
                </a:solidFill>
                <a:latin typeface="Aptos"/>
              </a:defRPr>
            </a:pPr>
            <a:r>
              <a:t>Ansible Automation Platform; inventário e credenciais Cisco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55848"/>
            <a:ext cx="2788920" cy="566928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440" y="3355848"/>
            <a:ext cx="7955279" cy="566928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447288"/>
            <a:ext cx="256032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Plataformas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429000"/>
            <a:ext cx="7644383" cy="420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3F6FA"/>
                </a:solidFill>
                <a:latin typeface="Aptos"/>
              </a:defRPr>
            </a:pPr>
            <a:r>
              <a:t>IOS primeiro; IOS-XE, IOS-XR, NX-OS, ASA por homologação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23360"/>
            <a:ext cx="2788920" cy="566928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0440" y="4023360"/>
            <a:ext cx="7955279" cy="566928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114800"/>
            <a:ext cx="256032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Correção candidata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4096512"/>
            <a:ext cx="7644383" cy="420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3F6FA"/>
                </a:solidFill>
                <a:latin typeface="Aptos"/>
              </a:defRPr>
            </a:pPr>
            <a:r>
              <a:t>Habilitação SCP quando desabilitado, com aprovação e guardrails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90872"/>
            <a:ext cx="2788920" cy="566928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0440" y="4690872"/>
            <a:ext cx="7955279" cy="566928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782312"/>
            <a:ext cx="256032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Fora do MVP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5887" y="4764024"/>
            <a:ext cx="7644383" cy="420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3F6FA"/>
                </a:solidFill>
                <a:latin typeface="Aptos"/>
              </a:defRPr>
            </a:pPr>
            <a:r>
              <a:t>GMUD complexa, rotas em massa, falha física, exclusão de arquivos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58383"/>
            <a:ext cx="2788920" cy="566928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20440" y="5358383"/>
            <a:ext cx="7955279" cy="566928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449823"/>
            <a:ext cx="256032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Fechamento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5887" y="5431536"/>
            <a:ext cx="7644383" cy="420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3F6FA"/>
                </a:solidFill>
                <a:latin typeface="Aptos"/>
              </a:defRPr>
            </a:pPr>
            <a:r>
              <a:t>Somente após nova tentativa e confirmação objetiva de sucesso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02  |  Fluxo AAP — decisões e evidências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Vermelho = encaminhar sem encerramento  •  Verde = backup comprovadamente concluído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176272" cy="120700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011680" cy="30175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62B4EF"/>
                </a:solidFill>
                <a:latin typeface="Aptos"/>
              </a:defRPr>
            </a:pPr>
            <a:r>
              <a:t>1  INCIDENTE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2011680" cy="52120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3F6FA"/>
                </a:solidFill>
                <a:latin typeface="Aptos"/>
              </a:defRPr>
            </a:pPr>
            <a:r>
              <a:t>Receber número, hostname, IP, CI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88336" y="2194560"/>
            <a:ext cx="137160" cy="0"/>
          </a:xfrm>
          <a:prstGeom prst="line">
            <a:avLst/>
          </a:prstGeom>
          <a:ln w="25400">
            <a:solidFill>
              <a:srgbClr val="FF8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43784" y="1600200"/>
            <a:ext cx="2176272" cy="120700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737360"/>
            <a:ext cx="2011680" cy="30175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62B4EF"/>
                </a:solidFill>
                <a:latin typeface="Aptos"/>
              </a:defRPr>
            </a:pPr>
            <a:r>
              <a:t>2 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139696"/>
            <a:ext cx="2011680" cy="52120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3F6FA"/>
                </a:solidFill>
                <a:latin typeface="Aptos"/>
              </a:defRPr>
            </a:pPr>
            <a:r>
              <a:t>Ping, SSH e login (TACACS/offline)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194560"/>
            <a:ext cx="137160" cy="0"/>
          </a:xfrm>
          <a:prstGeom prst="line">
            <a:avLst/>
          </a:prstGeom>
          <a:ln w="25400">
            <a:solidFill>
              <a:srgbClr val="FF8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84648" y="1600200"/>
            <a:ext cx="2176272" cy="120700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1737360"/>
            <a:ext cx="2011680" cy="30175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62B4EF"/>
                </a:solidFill>
                <a:latin typeface="Aptos"/>
              </a:defRPr>
            </a:pPr>
            <a:r>
              <a:t>3  DIAGNÓSTICO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139696"/>
            <a:ext cx="2011680" cy="52120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3F6FA"/>
                </a:solidFill>
                <a:latin typeface="Aptos"/>
              </a:defRPr>
            </a:pPr>
            <a:r>
              <a:t>SCP habilitado? Flash suficiente?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70064" y="2194560"/>
            <a:ext cx="137160" cy="0"/>
          </a:xfrm>
          <a:prstGeom prst="line">
            <a:avLst/>
          </a:prstGeom>
          <a:ln w="25400">
            <a:solidFill>
              <a:srgbClr val="FF8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25512" y="1600200"/>
            <a:ext cx="2176272" cy="120700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1737360"/>
            <a:ext cx="2011680" cy="30175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4  BACKUP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139696"/>
            <a:ext cx="2011680" cy="52120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3F6FA"/>
                </a:solidFill>
                <a:latin typeface="Aptos"/>
              </a:defRPr>
            </a:pPr>
            <a:r>
              <a:t>Solicitar tentativa via API ItaúMon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10928" y="2194560"/>
            <a:ext cx="137160" cy="0"/>
          </a:xfrm>
          <a:prstGeom prst="line">
            <a:avLst/>
          </a:prstGeom>
          <a:ln w="25400">
            <a:solidFill>
              <a:srgbClr val="FF8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66376" y="1600200"/>
            <a:ext cx="2176272" cy="120700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1737360"/>
            <a:ext cx="2011680" cy="30175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8C32"/>
                </a:solidFill>
                <a:latin typeface="Aptos"/>
              </a:defRPr>
            </a:pPr>
            <a:r>
              <a:t>5  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2139696"/>
            <a:ext cx="2011680" cy="52120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3F6FA"/>
                </a:solidFill>
                <a:latin typeface="Aptos"/>
              </a:defRPr>
            </a:pPr>
            <a:r>
              <a:t>Consultar status e data do backup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273552"/>
            <a:ext cx="5239512" cy="228600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474720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6376"/>
                </a:solidFill>
                <a:latin typeface="Aptos"/>
              </a:defRPr>
            </a:pPr>
            <a:r>
              <a:t>FALHA / NÃO ELEGÍVEL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86784"/>
            <a:ext cx="4754880" cy="1371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Falha de rede, SSH ou credencial</a:t>
            </a:r>
          </a:p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CHG/incidente recente como contexto</a:t>
            </a:r>
          </a:p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Espaço insuficiente ou correção não autorizada</a:t>
            </a:r>
          </a:p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Evidências + encaminhamento (sem encerrar)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273552"/>
            <a:ext cx="5239512" cy="228600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3CC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74720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3CCB87"/>
                </a:solidFill>
                <a:latin typeface="Aptos"/>
              </a:defRPr>
            </a:pPr>
            <a:r>
              <a:t>SUCESSO VALIDADO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86784"/>
            <a:ext cx="4709160" cy="1371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Se primeira tentativa falhar: avaliar SCP</a:t>
            </a:r>
          </a:p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Corrigir somente se elegível/autorizado</a:t>
            </a:r>
          </a:p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Repetir backup e confirmar conclusão</a:t>
            </a:r>
          </a:p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• Atualizar causa, solução e encerrar incidente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0448"/>
            <a:ext cx="10881360" cy="3931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4CB69"/>
                </a:solidFill>
                <a:latin typeface="Aptos"/>
              </a:defRPr>
            </a:pPr>
            <a:r>
              <a:t>A sequência exata de checagens e a API de retorno ainda dependem de validação técnica.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03  |  Refinamento do Eduardo — conectividade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Acessibilidade e autenticação são diagnósticos distintos; não presumir causa raiz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99032"/>
            <a:ext cx="5330952" cy="196596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17904"/>
            <a:ext cx="50383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2B4EF"/>
                </a:solidFill>
                <a:latin typeface="Aptos"/>
              </a:defRPr>
            </a:pPr>
            <a:r>
              <a:t>PING / SSH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29384"/>
            <a:ext cx="5020056" cy="1362455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F6FA"/>
                </a:solidFill>
                <a:latin typeface="Aptos"/>
              </a:defRPr>
            </a:pPr>
            <a:r>
              <a:t>Validar alcance de rede e sessão SSH. Se falhar, buscar histórico recente de incidente e CHG no CI/ambiente.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99032"/>
            <a:ext cx="5330952" cy="196596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383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C32"/>
                </a:solidFill>
                <a:latin typeface="Aptos"/>
              </a:defRPr>
            </a:pPr>
            <a:r>
              <a:t>LOGIN TACACS / OFFLINE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9384"/>
            <a:ext cx="5020056" cy="1362455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F6FA"/>
                </a:solidFill>
                <a:latin typeface="Aptos"/>
              </a:defRPr>
            </a:pPr>
            <a:r>
              <a:t>Consultar método cadastrado no ItaúMon; validar credencial correta. Falha de login não equivale a host indisponível.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330952" cy="196596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3CC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776472"/>
            <a:ext cx="50383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CCB87"/>
                </a:solidFill>
                <a:latin typeface="Aptos"/>
              </a:defRPr>
            </a:pPr>
            <a:r>
              <a:t>ACESSO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187952"/>
            <a:ext cx="5020056" cy="1362455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F6FA"/>
                </a:solidFill>
                <a:latin typeface="Aptos"/>
              </a:defRPr>
            </a:pPr>
            <a:r>
              <a:t>Checar configuração do serviço SCP e espaço livre em flash/disco, com comandos adequados a cada 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657600"/>
            <a:ext cx="5330952" cy="1965960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776472"/>
            <a:ext cx="50383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6376"/>
                </a:solidFill>
                <a:latin typeface="Aptos"/>
              </a:defRPr>
            </a:pPr>
            <a:r>
              <a:t>ACESSO NÃO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87952"/>
            <a:ext cx="5020056" cy="1362455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F6FA"/>
                </a:solidFill>
                <a:latin typeface="Aptos"/>
              </a:defRPr>
            </a:pPr>
            <a:r>
              <a:t>Registrar classificação e evidências; não corrigir problemas físicos, senhas compartilhadas ou mudanças complexas.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04  |  Regras operacionais e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Ações seguras, rastreáveis e previamente aprovadas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02152" cy="4315968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3CC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2095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CCB87"/>
                </a:solidFill>
                <a:latin typeface="Aptos"/>
              </a:defRPr>
            </a:pPr>
            <a:r>
              <a:t>AUTOMATIZAR NO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3191256" cy="3712463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Inventário e plataforma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Ping / SSH / login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Diagnóstico SCP / espaço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Solicitar e acompanhar backup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Correção SCP autorizada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Evidências e encerramento condicionado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371600"/>
            <a:ext cx="3502152" cy="4315968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F4C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490472"/>
            <a:ext cx="32095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4CB69"/>
                </a:solidFill>
                <a:latin typeface="Aptos"/>
              </a:defRPr>
            </a:pPr>
            <a:r>
              <a:t>DIAGNOSTICAR / ENCAMINHAR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901952"/>
            <a:ext cx="3191256" cy="3712463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Falha física ou acesso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Falha de credencial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Flash sem espaço (sem deletar)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Mudança recente correlata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Backup ainda falhando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Cenários fora do padrão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371600"/>
            <a:ext cx="3502152" cy="4315968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490472"/>
            <a:ext cx="32095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2B4EF"/>
                </a:solidFill>
                <a:latin typeface="Aptos"/>
              </a:defRPr>
            </a:pPr>
            <a:r>
              <a:t>EVOLUÇÃO POSTERIOR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01952"/>
            <a:ext cx="3191256" cy="3712463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CHGs e incidentes correlatos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Remediação de rotas simples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Ampliação por plataforma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Regras por criticidade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Cobertura de outras causas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• Melhoria da observabilidade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05  |  Dependências a levantar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Itens que podem bloquear implementação, testes E2E ou 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10844784" cy="79552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08760"/>
            <a:ext cx="2395728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8C32"/>
                </a:solidFill>
                <a:latin typeface="Aptos"/>
              </a:defRPr>
            </a:pPr>
            <a:r>
              <a:t>AAP / INVENTÁRIO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99616"/>
            <a:ext cx="8046720" cy="512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Hosts Cisco por SO; conectividade; EE e collections; credenciais e privilégio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22576"/>
            <a:ext cx="10844784" cy="79552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441448"/>
            <a:ext cx="2395728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8C32"/>
                </a:solidFill>
                <a:latin typeface="Aptos"/>
              </a:defRPr>
            </a:pPr>
            <a:r>
              <a:t>ITAÚMON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32304"/>
            <a:ext cx="8046720" cy="512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API de solicitação; autenticação; payload; polling; status e data; cadastro TACACS/offline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55264"/>
            <a:ext cx="10844784" cy="79552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374136"/>
            <a:ext cx="2395728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8C32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64992"/>
            <a:ext cx="8046720" cy="512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Gatilho de incidente; leitura de CI e histórico; permissões; work notes; resolução/fechamento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87952"/>
            <a:ext cx="10844784" cy="79552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306824"/>
            <a:ext cx="2395728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62B4EF"/>
                </a:solidFill>
                <a:latin typeface="Aptos"/>
              </a:defRPr>
            </a:pPr>
            <a:r>
              <a:t>OPERAÇÃO / SEGURANÇA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97680"/>
            <a:ext cx="8046720" cy="512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Critérios de elegibilidade; autorização para configurar SCP; limites de flash; janelas/freeze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120640"/>
            <a:ext cx="10844784" cy="795528"/>
          </a:xfrm>
          <a:prstGeom prst="roundRect">
            <a:avLst/>
          </a:prstGeom>
          <a:solidFill>
            <a:srgbClr val="1A2E49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5239512"/>
            <a:ext cx="2395728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62B4EF"/>
                </a:solidFill>
                <a:latin typeface="Aptos"/>
              </a:defRPr>
            </a:pPr>
            <a:r>
              <a:t>TESTES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230368"/>
            <a:ext cx="8046720" cy="512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Hosts de laboratório; incidentes controlados; sucesso, timeout, falha e idempotência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06  |  Plano de entrega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Planejamento indicativo; sujeito a acessos, integrações e freeze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26464"/>
            <a:ext cx="3502152" cy="3310128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62B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45336"/>
            <a:ext cx="32095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2B4EF"/>
                </a:solidFill>
                <a:latin typeface="Aptos"/>
              </a:defRPr>
            </a:pPr>
            <a:r>
              <a:t>SPRINT 2  | 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3191256" cy="2706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Inventário Cisco; EE/collections; credenciais; classificação de acesso; contrato ServiceNow e prova de API ItaúMon.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426464"/>
            <a:ext cx="3502152" cy="3310128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545336"/>
            <a:ext cx="32095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C32"/>
                </a:solidFill>
                <a:latin typeface="Aptos"/>
              </a:defRPr>
            </a:pPr>
            <a:r>
              <a:t>SPRINT 3  |  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956816"/>
            <a:ext cx="3191256" cy="2706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Diagnóstico IOS; regras SCP/flash; remediação controlada; nova tentativa e consulta de resultado.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426464"/>
            <a:ext cx="3502152" cy="3310128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3CC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545336"/>
            <a:ext cx="3209544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CCB87"/>
                </a:solidFill>
                <a:latin typeface="Aptos"/>
              </a:defRPr>
            </a:pPr>
            <a:r>
              <a:t>SPRINT 4  |  E2E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56816"/>
            <a:ext cx="3191256" cy="27066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Fluxo de incidentes, evidências, estados, testes negativos e positivos, homologação e documentação.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074920"/>
            <a:ext cx="10716768" cy="804672"/>
          </a:xfrm>
          <a:prstGeom prst="roundRect">
            <a:avLst/>
          </a:prstGeom>
          <a:solidFill>
            <a:srgbClr val="14243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2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3F6FA"/>
                </a:solidFill>
                <a:latin typeface="Aptos"/>
              </a:defRPr>
            </a:pPr>
            <a:r>
              <a:t>GATE DE PRODUÇÃO: nenhuma alteração ou resolução automática sem regras aprovadas e testes E2E.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10972800" cy="4846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3F6FA"/>
                </a:solidFill>
                <a:latin typeface="Aptos"/>
              </a:defRPr>
            </a:pPr>
            <a:r>
              <a:t>07  |  Decisões em aberto e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1381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t>Perguntas que devem acompanhar o trabalho durante a ausência da responsável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7C4D6"/>
                </a:solidFill>
                <a:latin typeface="Aptos"/>
              </a:defRPr>
            </a:pPr>
            <a:r>
              <a:t>R4 2026  •  Discovery técnico  •  22/10/2026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8C3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10808208" cy="630936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389888"/>
            <a:ext cx="10469880" cy="475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1. API ItaúMon: como solicitar backup, consultar job, interpretar sucesso e evitar duplicidade?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39112"/>
            <a:ext cx="10808208" cy="630936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30552"/>
            <a:ext cx="10469880" cy="475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2. Login: há consulta ao método TACACS/offline por API? Qual credencial de automação?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9776"/>
            <a:ext cx="10808208" cy="630936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871216"/>
            <a:ext cx="10469880" cy="475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3. ServiceNow: quem fornece acesso de leitura, atualização e resolução? Qual política P1–P5?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10808208" cy="630936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611880"/>
            <a:ext cx="10469880" cy="475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4. SCP: em quais plataformas é seguro habilitar? Há aprovação de escrita e rollback?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61104"/>
            <a:ext cx="10808208" cy="630936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352544"/>
            <a:ext cx="10469880" cy="475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5. Flash: qual mínimo por plataforma? Qual equipe recebe insuficiência de espaço?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01768"/>
            <a:ext cx="10808208" cy="630936"/>
          </a:xfrm>
          <a:prstGeom prst="roundRect">
            <a:avLst/>
          </a:prstGeom>
          <a:solidFill>
            <a:srgbClr val="1A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093208"/>
            <a:ext cx="10469880" cy="475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3F6FA"/>
                </a:solidFill>
                <a:latin typeface="Aptos"/>
              </a:defRPr>
            </a:pPr>
            <a:r>
              <a:t>6. CHG/incidente: consulta é mandatória ou enriquecimento opcional? Qual janela temporal?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