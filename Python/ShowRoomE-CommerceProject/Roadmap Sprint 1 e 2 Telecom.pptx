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A42"/>
                </a:solidFill>
                <a:latin typeface="Aptos Display"/>
              </a:defRPr>
            </a:pPr>
            <a:r>
              <a:rPr dirty="0"/>
              <a:t>R4 Telecom | Plano de </a:t>
            </a:r>
            <a:r>
              <a:rPr dirty="0" err="1"/>
              <a:t>evolução</a:t>
            </a:r>
            <a:r>
              <a:rPr dirty="0"/>
              <a:t> das </a:t>
            </a:r>
            <a:r>
              <a:rPr dirty="0" err="1"/>
              <a:t>automações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626966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874"/>
                </a:solidFill>
                <a:latin typeface="Aptos"/>
              </a:defRPr>
            </a:pPr>
            <a:r>
              <a:rPr dirty="0" err="1"/>
              <a:t>Proposta</a:t>
            </a:r>
            <a:r>
              <a:rPr dirty="0"/>
              <a:t> para </a:t>
            </a:r>
            <a:r>
              <a:rPr dirty="0" err="1"/>
              <a:t>alinhamento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08/10 </a:t>
            </a:r>
            <a:r>
              <a:rPr lang="pt-BR" dirty="0"/>
              <a:t>-</a:t>
            </a:r>
            <a:r>
              <a:rPr dirty="0"/>
              <a:t> </a:t>
            </a:r>
            <a:r>
              <a:rPr dirty="0" err="1"/>
              <a:t>foco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ofensores</a:t>
            </a:r>
            <a:r>
              <a:rPr dirty="0"/>
              <a:t> e </a:t>
            </a:r>
            <a:r>
              <a:rPr dirty="0" err="1"/>
              <a:t>evolução</a:t>
            </a:r>
            <a:r>
              <a:rPr dirty="0"/>
              <a:t> incremental no AAP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0355"/>
            <a:ext cx="10927080" cy="960120"/>
          </a:xfrm>
          <a:prstGeom prst="roundRect">
            <a:avLst/>
          </a:prstGeom>
          <a:solidFill>
            <a:srgbClr val="E2EEF9"/>
          </a:solidFill>
          <a:ln>
            <a:solidFill>
              <a:srgbClr val="29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969A4"/>
                </a:solidFill>
                <a:latin typeface="Aptos"/>
              </a:defRPr>
            </a:pPr>
            <a:r>
              <a:t>Estratégia da R4</a:t>
            </a:r>
          </a:p>
          <a:p>
            <a:pPr algn="ctr">
              <a:defRPr sz="1800" b="1">
                <a:solidFill>
                  <a:srgbClr val="142A42"/>
                </a:solidFill>
                <a:latin typeface="Aptos Display"/>
              </a:defRPr>
            </a:pPr>
            <a:r>
              <a:t>Consolidar BADLINK LAN + WAN como primeiro blueprint → aplicar o padrão ao OSPF → evoluir High CPU/Memory → priorizar próximos ofensores com Telecom.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743200"/>
            <a:ext cx="3429000" cy="2057400"/>
          </a:xfrm>
          <a:prstGeom prst="roundRect">
            <a:avLst/>
          </a:prstGeom>
          <a:solidFill>
            <a:srgbClr val="E2F1EA"/>
          </a:solidFill>
          <a:ln w="17780">
            <a:solidFill>
              <a:srgbClr val="2A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3060555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795B"/>
                </a:solidFill>
                <a:latin typeface="Aptos"/>
              </a:defRPr>
            </a:pPr>
            <a:r>
              <a:t>1. Consolidar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444603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A42"/>
                </a:solidFill>
                <a:latin typeface="Aptos Display"/>
              </a:defRPr>
            </a:pPr>
            <a:r>
              <a:t>BADLINK LAN + 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917439"/>
            <a:ext cx="275428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rPr dirty="0"/>
              <a:t>Um </a:t>
            </a: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coerente</a:t>
            </a:r>
            <a:r>
              <a:rPr dirty="0"/>
              <a:t>, </a:t>
            </a:r>
            <a:r>
              <a:rPr dirty="0" err="1"/>
              <a:t>contratos</a:t>
            </a:r>
            <a:r>
              <a:rPr dirty="0"/>
              <a:t> claros, </a:t>
            </a:r>
            <a:br>
              <a:rPr lang="pt-BR" dirty="0"/>
            </a:br>
            <a:r>
              <a:rPr dirty="0" err="1"/>
              <a:t>tratamento</a:t>
            </a:r>
            <a:r>
              <a:rPr dirty="0"/>
              <a:t> de </a:t>
            </a:r>
            <a:r>
              <a:rPr dirty="0" err="1"/>
              <a:t>falhas</a:t>
            </a:r>
            <a:r>
              <a:rPr dirty="0"/>
              <a:t> e </a:t>
            </a:r>
            <a:r>
              <a:rPr dirty="0" err="1"/>
              <a:t>retorno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ServiceNow.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877675"/>
            <a:ext cx="3429000" cy="2057400"/>
          </a:xfrm>
          <a:prstGeom prst="roundRect">
            <a:avLst/>
          </a:prstGeom>
          <a:solidFill>
            <a:srgbClr val="FAEDDD"/>
          </a:solidFill>
          <a:ln w="17780">
            <a:solidFill>
              <a:srgbClr val="C2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3060555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7023"/>
                </a:solidFill>
                <a:latin typeface="Aptos"/>
              </a:defRPr>
            </a:pPr>
            <a:r>
              <a:t>2. Reutilizar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3444603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A42"/>
                </a:solidFill>
                <a:latin typeface="Aptos Display"/>
              </a:defRPr>
            </a:pPr>
            <a:r>
              <a:t>OSPF Neighbor State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932574"/>
            <a:ext cx="234230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rPr dirty="0"/>
              <a:t>Levar para o AAP </a:t>
            </a:r>
            <a:r>
              <a:rPr dirty="0" err="1"/>
              <a:t>aplicando</a:t>
            </a:r>
            <a:r>
              <a:rPr dirty="0"/>
              <a:t> o blueprint </a:t>
            </a:r>
            <a:br>
              <a:rPr lang="pt-BR" dirty="0"/>
            </a:br>
            <a:r>
              <a:rPr dirty="0"/>
              <a:t>e </a:t>
            </a:r>
            <a:r>
              <a:rPr dirty="0" err="1"/>
              <a:t>aprendizados</a:t>
            </a:r>
            <a:r>
              <a:rPr dirty="0"/>
              <a:t> do BADLINK.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877675"/>
            <a:ext cx="3429000" cy="2057400"/>
          </a:xfrm>
          <a:prstGeom prst="roundRect">
            <a:avLst/>
          </a:prstGeom>
          <a:solidFill>
            <a:srgbClr val="F4F6F8"/>
          </a:solidFill>
          <a:ln w="17780">
            <a:solidFill>
              <a:srgbClr val="14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3060555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2A42"/>
                </a:solidFill>
                <a:latin typeface="Aptos"/>
              </a:defRPr>
            </a:pPr>
            <a:r>
              <a:t>3. Escalar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444603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A42"/>
                </a:solidFill>
                <a:latin typeface="Aptos Display"/>
              </a:defRPr>
            </a:pPr>
            <a:r>
              <a:t>High CPU/Memory + backlog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4048107"/>
            <a:ext cx="27238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rPr dirty="0" err="1"/>
              <a:t>Evoluir</a:t>
            </a:r>
            <a:r>
              <a:rPr dirty="0"/>
              <a:t> o que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existe</a:t>
            </a:r>
            <a:r>
              <a:rPr dirty="0"/>
              <a:t> e </a:t>
            </a:r>
            <a:r>
              <a:rPr dirty="0" err="1"/>
              <a:t>selecionar</a:t>
            </a:r>
            <a:r>
              <a:rPr dirty="0"/>
              <a:t> Sprints 3/4 </a:t>
            </a:r>
            <a:br>
              <a:rPr lang="pt-BR" dirty="0"/>
            </a:b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impacto</a:t>
            </a:r>
            <a:r>
              <a:rPr dirty="0"/>
              <a:t>, </a:t>
            </a:r>
            <a:r>
              <a:rPr dirty="0" err="1"/>
              <a:t>esforço</a:t>
            </a:r>
            <a:r>
              <a:rPr dirty="0"/>
              <a:t> e </a:t>
            </a:r>
            <a:r>
              <a:rPr dirty="0" err="1"/>
              <a:t>dependências</a:t>
            </a:r>
            <a:r>
              <a:rPr dirty="0"/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2275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A42"/>
                </a:solidFill>
                <a:latin typeface="Aptos"/>
              </a:defRPr>
            </a:pPr>
            <a:r>
              <a:t>Princípio: não é uma migração em massa. Cada fluxo passa por entendimento do AS-IS, desenho do TO-BE, implementação/refactor, testes E2E e documentação.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874"/>
                </a:solidFill>
                <a:latin typeface="Aptos"/>
              </a:defRPr>
            </a:pPr>
            <a:r>
              <a:t>Planejamento inicial — sujeito a refinamento após discovery técnico e validação com Telecom.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A42"/>
                </a:solidFill>
                <a:latin typeface="Aptos Display"/>
              </a:defRPr>
            </a:pPr>
            <a:r>
              <a:t>Roadmap inicial da R4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874"/>
                </a:solidFill>
                <a:latin typeface="Aptos"/>
              </a:defRPr>
            </a:pPr>
            <a:r>
              <a:t>4 sprints de 3 semanas • proposta de capacidade e marcos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17320"/>
            <a:ext cx="2670048" cy="4315968"/>
          </a:xfrm>
          <a:prstGeom prst="roundRect">
            <a:avLst/>
          </a:prstGeom>
          <a:solidFill>
            <a:srgbClr val="E2F1EA"/>
          </a:solidFill>
          <a:ln w="19050">
            <a:solidFill>
              <a:srgbClr val="2A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795B"/>
                </a:solidFill>
                <a:latin typeface="Aptos"/>
              </a:defRPr>
            </a:pPr>
            <a:r>
              <a:t>SPRINT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01952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E6874"/>
                </a:solidFill>
                <a:latin typeface="Aptos"/>
              </a:defRPr>
            </a:pPr>
            <a:r>
              <a:t>05/10 – 23/10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04288"/>
            <a:ext cx="2331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A42"/>
                </a:solidFill>
                <a:latin typeface="Aptos Display"/>
              </a:defRPr>
            </a:pPr>
            <a:r>
              <a:rPr dirty="0"/>
              <a:t>BADLINK LAN + 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2496196" cy="12259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Melhorar</a:t>
            </a:r>
            <a:r>
              <a:rPr dirty="0"/>
              <a:t> </a:t>
            </a:r>
            <a:r>
              <a:rPr dirty="0" err="1"/>
              <a:t>fluxo</a:t>
            </a:r>
            <a:r>
              <a:rPr dirty="0"/>
              <a:t> LAN </a:t>
            </a:r>
            <a:r>
              <a:rPr dirty="0" err="1"/>
              <a:t>existente</a:t>
            </a:r>
            <a:endParaRPr lang="pt-BR" dirty="0"/>
          </a:p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rPr lang="pt-BR" dirty="0"/>
              <a:t>• Criar desenho atual do fluxo</a:t>
            </a:r>
          </a:p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rPr lang="pt-BR" dirty="0"/>
              <a:t>• Incorporar tratamento WAN</a:t>
            </a:r>
          </a:p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Consolidar</a:t>
            </a:r>
            <a:r>
              <a:rPr dirty="0"/>
              <a:t> </a:t>
            </a:r>
            <a:r>
              <a:rPr dirty="0" err="1"/>
              <a:t>contratos</a:t>
            </a:r>
            <a:r>
              <a:rPr dirty="0"/>
              <a:t> e </a:t>
            </a:r>
            <a:r>
              <a:rPr dirty="0" err="1"/>
              <a:t>decisões</a:t>
            </a:r>
            <a:endParaRPr dirty="0"/>
          </a:p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rPr dirty="0"/>
              <a:t>• </a:t>
            </a:r>
            <a:r>
              <a:rPr lang="pt-BR" dirty="0"/>
              <a:t>Entender até onde podemos mudar o fluxo</a:t>
            </a:r>
          </a:p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rPr lang="pt-BR" dirty="0"/>
              <a:t>• E2E + evidências + documentação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2331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795B"/>
                </a:solidFill>
                <a:latin typeface="Aptos"/>
              </a:defRPr>
            </a:pPr>
            <a:r>
              <a:t>Marco: BADLINK LAN/WAN consolidado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670048" cy="4315968"/>
          </a:xfrm>
          <a:prstGeom prst="roundRect">
            <a:avLst/>
          </a:prstGeom>
          <a:solidFill>
            <a:srgbClr val="FAEDDD"/>
          </a:solidFill>
          <a:ln w="19050">
            <a:solidFill>
              <a:srgbClr val="C2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47872" y="1600200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7023"/>
                </a:solidFill>
                <a:latin typeface="Aptos"/>
              </a:defRPr>
            </a:pPr>
            <a:r>
              <a:t>SPRINT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901952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E6874"/>
                </a:solidFill>
                <a:latin typeface="Aptos"/>
              </a:defRPr>
            </a:pPr>
            <a:r>
              <a:t>26/10 – 13/11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5119" y="2304288"/>
            <a:ext cx="2331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A42"/>
                </a:solidFill>
                <a:latin typeface="Aptos Display"/>
              </a:defRPr>
            </a:pPr>
            <a:r>
              <a:rPr dirty="0"/>
              <a:t>OSPF + High CPU/Memory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063240"/>
            <a:ext cx="207140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rPr dirty="0"/>
              <a:t>• Discovery/AS-IS do OSPF</a:t>
            </a:r>
          </a:p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rPr dirty="0"/>
              <a:t>• TO-BE + </a:t>
            </a:r>
            <a:r>
              <a:rPr dirty="0" err="1"/>
              <a:t>implementação</a:t>
            </a:r>
            <a:r>
              <a:rPr dirty="0"/>
              <a:t> no AAP</a:t>
            </a:r>
          </a:p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rPr dirty="0"/>
              <a:t>• Testes E2E do OSPF</a:t>
            </a:r>
          </a:p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rPr dirty="0"/>
              <a:t>• High CPU/Memory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evolução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3547872" y="5074920"/>
            <a:ext cx="2331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27023"/>
                </a:solidFill>
                <a:latin typeface="Aptos"/>
              </a:defRPr>
            </a:pPr>
            <a:r>
              <a:t>Prioridade: OSPF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417320"/>
            <a:ext cx="2670048" cy="4315968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9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1600200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9A4"/>
                </a:solidFill>
                <a:latin typeface="Aptos"/>
              </a:defRPr>
            </a:pPr>
            <a:r>
              <a:t>SPRINT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1901952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E6874"/>
                </a:solidFill>
                <a:latin typeface="Aptos"/>
              </a:defRPr>
            </a:pPr>
            <a:r>
              <a:t>16/11 – 04/12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304288"/>
            <a:ext cx="2331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A42"/>
                </a:solidFill>
                <a:latin typeface="Aptos Display"/>
              </a:defRPr>
            </a:pPr>
            <a:r>
              <a:rPr dirty="0"/>
              <a:t>A PRIORIZAR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063240"/>
            <a:ext cx="2331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t>• Selecionar próximo ofensor</a:t>
            </a:r>
          </a:p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t>• Usar volumetria e horas salvas</a:t>
            </a:r>
          </a:p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t>• Considerar dependências e risco</a:t>
            </a:r>
          </a:p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t>• Aplicar blueprint validado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5074920"/>
            <a:ext cx="2331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69A4"/>
                </a:solidFill>
                <a:latin typeface="Aptos"/>
              </a:defRPr>
            </a:pPr>
            <a:r>
              <a:rPr dirty="0" err="1"/>
              <a:t>Definição</a:t>
            </a:r>
            <a:r>
              <a:rPr dirty="0"/>
              <a:t> </a:t>
            </a:r>
            <a:r>
              <a:rPr dirty="0" err="1"/>
              <a:t>conjunta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08/10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417320"/>
            <a:ext cx="2670048" cy="4315968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4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63456" y="1600200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2A42"/>
                </a:solidFill>
                <a:latin typeface="Aptos"/>
              </a:defRPr>
            </a:pPr>
            <a:r>
              <a:t>SPRINT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1901952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E6874"/>
                </a:solidFill>
                <a:latin typeface="Aptos"/>
              </a:defRPr>
            </a:pPr>
            <a:r>
              <a:t>07/12 – 25/12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304288"/>
            <a:ext cx="2331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A42"/>
                </a:solidFill>
                <a:latin typeface="Aptos Display"/>
              </a:defRPr>
            </a:pPr>
            <a:r>
              <a:rPr dirty="0"/>
              <a:t>A PRIORIZAR / ESTABILIZAR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6" y="3063240"/>
            <a:ext cx="2331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t>• Próximo ofensor ou continuidade</a:t>
            </a:r>
          </a:p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t>• Estabilização dos fluxos entregues</a:t>
            </a:r>
          </a:p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t>• Métricas e ajustes operacionais</a:t>
            </a:r>
          </a:p>
          <a:p>
            <a:pPr>
              <a:spcAft>
                <a:spcPts val="400"/>
              </a:spcAft>
              <a:defRPr sz="950">
                <a:solidFill>
                  <a:srgbClr val="232A32"/>
                </a:solidFill>
                <a:latin typeface="Aptos"/>
              </a:defRPr>
            </a:pPr>
            <a:r>
              <a:t>• Preparação do backlog seguinte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5074920"/>
            <a:ext cx="2331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2A42"/>
                </a:solidFill>
                <a:latin typeface="Aptos"/>
              </a:defRPr>
            </a:pPr>
            <a:r>
              <a:t>Definição conforme evolução da R4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874"/>
                </a:solidFill>
                <a:latin typeface="Aptos"/>
              </a:defRPr>
            </a:pPr>
            <a:r>
              <a:t>Datas propostas para planejamento da R4. O escopo da Sprint 2 depende do discovery do OSPF; High CPU/Memory pode ser ajustado conforme capacidade.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A42"/>
                </a:solidFill>
                <a:latin typeface="Aptos Display"/>
              </a:defRPr>
            </a:pPr>
            <a:r>
              <a:t>Sprint 1 | BADLINK como blueprint LAN + WAN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874"/>
                </a:solidFill>
                <a:latin typeface="Aptos"/>
              </a:defRPr>
            </a:pPr>
            <a:r>
              <a:t>A base LAN já existe no AAP; a proposta é evoluir para um fluxo consolidado e reutilizável.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1572768" cy="868680"/>
          </a:xfrm>
          <a:prstGeom prst="roundRect">
            <a:avLst/>
          </a:prstGeom>
          <a:solidFill>
            <a:srgbClr val="E2EEF9"/>
          </a:solidFill>
          <a:ln>
            <a:solidFill>
              <a:srgbClr val="29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A42"/>
                </a:solidFill>
                <a:latin typeface="Aptos"/>
              </a:defRPr>
            </a:pPr>
            <a:r>
              <a:rPr dirty="0" err="1"/>
              <a:t>Evento</a:t>
            </a:r>
            <a:br>
              <a:rPr dirty="0"/>
            </a:br>
            <a:r>
              <a:rPr dirty="0"/>
              <a:t>BADLINK</a:t>
            </a:r>
          </a:p>
        </p:txBody>
      </p:sp>
      <p:sp>
        <p:nvSpPr>
          <p:cNvPr id="5" name="Chevron 4"/>
          <p:cNvSpPr/>
          <p:nvPr/>
        </p:nvSpPr>
        <p:spPr>
          <a:xfrm>
            <a:off x="2121408" y="1719072"/>
            <a:ext cx="237744" cy="320040"/>
          </a:xfrm>
          <a:prstGeom prst="chevron">
            <a:avLst/>
          </a:prstGeom>
          <a:solidFill>
            <a:srgbClr val="CD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77439" y="1463040"/>
            <a:ext cx="1572768" cy="868680"/>
          </a:xfrm>
          <a:prstGeom prst="roundRect">
            <a:avLst/>
          </a:prstGeom>
          <a:solidFill>
            <a:srgbClr val="E2EEF9"/>
          </a:solidFill>
          <a:ln>
            <a:solidFill>
              <a:srgbClr val="29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A42"/>
                </a:solidFill>
                <a:latin typeface="Aptos"/>
              </a:defRPr>
            </a:pPr>
            <a:r>
              <a:rPr dirty="0"/>
              <a:t>Consulta</a:t>
            </a:r>
            <a:br>
              <a:rPr dirty="0"/>
            </a:br>
            <a:r>
              <a:rPr dirty="0" err="1"/>
              <a:t>ItaúMon</a:t>
            </a:r>
            <a:endParaRPr dirty="0"/>
          </a:p>
        </p:txBody>
      </p:sp>
      <p:sp>
        <p:nvSpPr>
          <p:cNvPr id="7" name="Chevron 6"/>
          <p:cNvSpPr/>
          <p:nvPr/>
        </p:nvSpPr>
        <p:spPr>
          <a:xfrm>
            <a:off x="3995927" y="1719072"/>
            <a:ext cx="237744" cy="320040"/>
          </a:xfrm>
          <a:prstGeom prst="chevron">
            <a:avLst/>
          </a:prstGeom>
          <a:solidFill>
            <a:srgbClr val="CD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51959" y="1463040"/>
            <a:ext cx="1572768" cy="868680"/>
          </a:xfrm>
          <a:prstGeom prst="roundRect">
            <a:avLst/>
          </a:prstGeom>
          <a:solidFill>
            <a:srgbClr val="E2F1EA"/>
          </a:solidFill>
          <a:ln>
            <a:solidFill>
              <a:srgbClr val="2A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A42"/>
                </a:solidFill>
                <a:latin typeface="Aptos"/>
              </a:defRPr>
            </a:pPr>
            <a:r>
              <a:rPr dirty="0" err="1"/>
              <a:t>Classificação</a:t>
            </a:r>
            <a:br>
              <a:rPr dirty="0"/>
            </a:br>
            <a:r>
              <a:rPr dirty="0"/>
              <a:t>LAN / WAN</a:t>
            </a:r>
          </a:p>
        </p:txBody>
      </p:sp>
      <p:sp>
        <p:nvSpPr>
          <p:cNvPr id="9" name="Chevron 8"/>
          <p:cNvSpPr/>
          <p:nvPr/>
        </p:nvSpPr>
        <p:spPr>
          <a:xfrm>
            <a:off x="5870448" y="1719072"/>
            <a:ext cx="237744" cy="320040"/>
          </a:xfrm>
          <a:prstGeom prst="chevron">
            <a:avLst/>
          </a:prstGeom>
          <a:solidFill>
            <a:srgbClr val="CD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26479" y="1463040"/>
            <a:ext cx="1572768" cy="868680"/>
          </a:xfrm>
          <a:prstGeom prst="roundRect">
            <a:avLst/>
          </a:prstGeom>
          <a:solidFill>
            <a:srgbClr val="E2F1EA"/>
          </a:solidFill>
          <a:ln>
            <a:solidFill>
              <a:srgbClr val="2A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A42"/>
                </a:solidFill>
                <a:latin typeface="Aptos"/>
              </a:defRPr>
            </a:pPr>
            <a:r>
              <a:rPr dirty="0" err="1"/>
              <a:t>Diagnóstico</a:t>
            </a:r>
            <a:br>
              <a:rPr dirty="0"/>
            </a:br>
            <a:r>
              <a:rPr dirty="0" err="1"/>
              <a:t>específico</a:t>
            </a:r>
            <a:endParaRPr dirty="0"/>
          </a:p>
        </p:txBody>
      </p:sp>
      <p:sp>
        <p:nvSpPr>
          <p:cNvPr id="11" name="Chevron 10"/>
          <p:cNvSpPr/>
          <p:nvPr/>
        </p:nvSpPr>
        <p:spPr>
          <a:xfrm>
            <a:off x="7744967" y="1719072"/>
            <a:ext cx="237744" cy="320040"/>
          </a:xfrm>
          <a:prstGeom prst="chevron">
            <a:avLst/>
          </a:prstGeom>
          <a:solidFill>
            <a:srgbClr val="CD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01000" y="1463040"/>
            <a:ext cx="1572768" cy="868680"/>
          </a:xfrm>
          <a:prstGeom prst="roundRect">
            <a:avLst/>
          </a:prstGeom>
          <a:solidFill>
            <a:srgbClr val="FAEDDD"/>
          </a:solidFill>
          <a:ln>
            <a:solidFill>
              <a:srgbClr val="C2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A42"/>
                </a:solidFill>
                <a:latin typeface="Aptos"/>
              </a:defRPr>
            </a:pPr>
            <a:r>
              <a:rPr dirty="0" err="1"/>
              <a:t>Decisão</a:t>
            </a:r>
            <a:r>
              <a:rPr dirty="0"/>
              <a:t> do</a:t>
            </a:r>
            <a:br>
              <a:rPr dirty="0"/>
            </a:br>
            <a:r>
              <a:rPr dirty="0" err="1"/>
              <a:t>incidente</a:t>
            </a:r>
            <a:endParaRPr dirty="0"/>
          </a:p>
        </p:txBody>
      </p:sp>
      <p:sp>
        <p:nvSpPr>
          <p:cNvPr id="13" name="Chevron 12"/>
          <p:cNvSpPr/>
          <p:nvPr/>
        </p:nvSpPr>
        <p:spPr>
          <a:xfrm>
            <a:off x="9619488" y="1719072"/>
            <a:ext cx="237744" cy="320040"/>
          </a:xfrm>
          <a:prstGeom prst="chevron">
            <a:avLst/>
          </a:prstGeom>
          <a:solidFill>
            <a:srgbClr val="CD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75520" y="1463040"/>
            <a:ext cx="1572768" cy="868680"/>
          </a:xfrm>
          <a:prstGeom prst="roundRect">
            <a:avLst/>
          </a:prstGeom>
          <a:solidFill>
            <a:srgbClr val="F4F6F8"/>
          </a:solidFill>
          <a:ln>
            <a:solidFill>
              <a:srgbClr val="14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A42"/>
                </a:solidFill>
                <a:latin typeface="Aptos"/>
              </a:defRPr>
            </a:pPr>
            <a:r>
              <a:rPr dirty="0" err="1"/>
              <a:t>Atualização</a:t>
            </a:r>
            <a:br>
              <a:rPr dirty="0"/>
            </a:br>
            <a:r>
              <a:rPr dirty="0"/>
              <a:t>ServiceNow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3429000" cy="2194560"/>
          </a:xfrm>
          <a:prstGeom prst="roundRect">
            <a:avLst/>
          </a:prstGeom>
          <a:solidFill>
            <a:srgbClr val="F4F6F8"/>
          </a:solidFill>
          <a:ln>
            <a:solidFill>
              <a:srgbClr val="29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306324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E6874"/>
                </a:solidFill>
                <a:latin typeface="Aptos"/>
              </a:defRPr>
            </a:pPr>
            <a:r>
              <a:t>05–09/10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3832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2"/>
                </a:solidFill>
                <a:latin typeface="Aptos Display"/>
              </a:defRPr>
            </a:pPr>
            <a:r>
              <a:rPr dirty="0" err="1"/>
              <a:t>Entender</a:t>
            </a:r>
            <a:r>
              <a:rPr dirty="0"/>
              <a:t> e </a:t>
            </a:r>
            <a:r>
              <a:rPr dirty="0" err="1"/>
              <a:t>desenhar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04671" y="3794760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Revisar</a:t>
            </a:r>
            <a:r>
              <a:rPr dirty="0"/>
              <a:t> LAN </a:t>
            </a:r>
            <a:r>
              <a:rPr dirty="0" err="1"/>
              <a:t>atual</a:t>
            </a:r>
            <a:endParaRPr dirty="0"/>
          </a:p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Fechar</a:t>
            </a:r>
            <a:r>
              <a:rPr dirty="0"/>
              <a:t> </a:t>
            </a:r>
            <a:r>
              <a:rPr dirty="0" err="1"/>
              <a:t>regras</a:t>
            </a:r>
            <a:r>
              <a:rPr dirty="0"/>
              <a:t> WAN com Telecom</a:t>
            </a:r>
          </a:p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Mapear</a:t>
            </a:r>
            <a:r>
              <a:rPr dirty="0"/>
              <a:t> </a:t>
            </a:r>
            <a:r>
              <a:rPr dirty="0" err="1"/>
              <a:t>diferenças</a:t>
            </a:r>
            <a:r>
              <a:rPr dirty="0"/>
              <a:t> e </a:t>
            </a:r>
            <a:r>
              <a:rPr dirty="0" err="1"/>
              <a:t>dependências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4434840" y="2880360"/>
            <a:ext cx="3429000" cy="2194560"/>
          </a:xfrm>
          <a:prstGeom prst="roundRect">
            <a:avLst/>
          </a:prstGeom>
          <a:solidFill>
            <a:srgbClr val="F4F6F8"/>
          </a:solidFill>
          <a:ln>
            <a:solidFill>
              <a:srgbClr val="2A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9432" y="306324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E6874"/>
                </a:solidFill>
                <a:latin typeface="Aptos"/>
              </a:defRPr>
            </a:pPr>
            <a:r>
              <a:t>12–16/10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3832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2"/>
                </a:solidFill>
                <a:latin typeface="Aptos Display"/>
              </a:defRPr>
            </a:pPr>
            <a:r>
              <a:t>Construir e consolidar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3794760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Reaproveitar</a:t>
            </a:r>
            <a:r>
              <a:rPr dirty="0"/>
              <a:t> roles/</a:t>
            </a:r>
            <a:r>
              <a:rPr dirty="0" err="1"/>
              <a:t>contratos</a:t>
            </a:r>
            <a:endParaRPr dirty="0"/>
          </a:p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Adicionar</a:t>
            </a:r>
            <a:r>
              <a:rPr dirty="0"/>
              <a:t> </a:t>
            </a:r>
            <a:r>
              <a:rPr dirty="0" err="1"/>
              <a:t>caminho</a:t>
            </a:r>
            <a:r>
              <a:rPr dirty="0"/>
              <a:t> WAN</a:t>
            </a:r>
          </a:p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Padronizar</a:t>
            </a:r>
            <a:r>
              <a:rPr dirty="0"/>
              <a:t> </a:t>
            </a:r>
            <a:r>
              <a:rPr dirty="0" err="1"/>
              <a:t>decisão</a:t>
            </a:r>
            <a:r>
              <a:rPr dirty="0"/>
              <a:t> e </a:t>
            </a:r>
            <a:r>
              <a:rPr dirty="0" err="1"/>
              <a:t>falhas</a:t>
            </a:r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8229600" y="2880360"/>
            <a:ext cx="3429000" cy="2194560"/>
          </a:xfrm>
          <a:prstGeom prst="roundRect">
            <a:avLst/>
          </a:prstGeom>
          <a:solidFill>
            <a:srgbClr val="F4F6F8"/>
          </a:solidFill>
          <a:ln>
            <a:solidFill>
              <a:srgbClr val="2A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94192" y="306324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E6874"/>
                </a:solidFill>
                <a:latin typeface="Aptos"/>
              </a:defRPr>
            </a:pPr>
            <a:r>
              <a:t>19–23/10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33832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2"/>
                </a:solidFill>
                <a:latin typeface="Aptos Display"/>
              </a:defRPr>
            </a:pPr>
            <a:r>
              <a:t>Validar e documentar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3794760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• Testes LAN/WAN e negativos</a:t>
            </a:r>
          </a:p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• Validar retorno ao SNOW</a:t>
            </a:r>
          </a:p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• Evidências + documentação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7320" y="5440680"/>
            <a:ext cx="9326880" cy="658368"/>
          </a:xfrm>
          <a:prstGeom prst="roundRect">
            <a:avLst/>
          </a:prstGeom>
          <a:solidFill>
            <a:srgbClr val="E2F1EA"/>
          </a:solidFill>
          <a:ln>
            <a:solidFill>
              <a:srgbClr val="2A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A795B"/>
                </a:solidFill>
                <a:latin typeface="Aptos"/>
              </a:defRPr>
            </a:pPr>
            <a:r>
              <a:rPr dirty="0"/>
              <a:t>23/10 — Meta: BADLINK LAN/WAN </a:t>
            </a:r>
            <a:r>
              <a:rPr dirty="0" err="1"/>
              <a:t>validado</a:t>
            </a:r>
            <a:r>
              <a:rPr dirty="0"/>
              <a:t> end-to-end e </a:t>
            </a:r>
            <a:r>
              <a:rPr dirty="0" err="1"/>
              <a:t>documentado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primeiro</a:t>
            </a:r>
            <a:r>
              <a:rPr dirty="0"/>
              <a:t> blueprint </a:t>
            </a:r>
            <a:r>
              <a:rPr dirty="0" err="1"/>
              <a:t>técnico</a:t>
            </a:r>
            <a:r>
              <a:rPr dirty="0"/>
              <a:t> de Telecom no AAP.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874"/>
                </a:solidFill>
                <a:latin typeface="Aptos"/>
              </a:defRPr>
            </a:pPr>
            <a:r>
              <a:t>Planejamento inicial — sujeito a refinamento após discovery técnico e validação com Telecom.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A42"/>
                </a:solidFill>
                <a:latin typeface="Aptos Display"/>
              </a:defRPr>
            </a:pPr>
            <a:r>
              <a:t>Sprint 2 | OSPF como próximo grande ofensor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874"/>
                </a:solidFill>
                <a:latin typeface="Aptos"/>
              </a:defRPr>
            </a:pPr>
            <a:r>
              <a:t>Aplicar o padrão do BADLINK em um novo fluxo; High CPU/Memory entra como evolução condicionada à capacidade.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6812280" cy="4480560"/>
          </a:xfrm>
          <a:prstGeom prst="roundRect">
            <a:avLst/>
          </a:prstGeom>
          <a:solidFill>
            <a:srgbClr val="FAEDDD"/>
          </a:solidFill>
          <a:ln>
            <a:solidFill>
              <a:srgbClr val="C2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788460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2"/>
                </a:solidFill>
                <a:latin typeface="Aptos Display"/>
              </a:defRPr>
            </a:pPr>
            <a:r>
              <a:t>OSPF Neighbor State Change — prioridade principal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528407"/>
            <a:ext cx="1005840" cy="384048"/>
          </a:xfrm>
          <a:prstGeom prst="roundRect">
            <a:avLst/>
          </a:prstGeom>
          <a:solidFill>
            <a:srgbClr val="C2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26–30/10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8" y="2510119"/>
            <a:ext cx="49377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A42"/>
                </a:solidFill>
                <a:latin typeface="Aptos"/>
              </a:defRPr>
            </a:pPr>
            <a:r>
              <a:t>Discovery + AS-IS</a:t>
            </a:r>
          </a:p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Flow Designer, gatilho, regras, comandos, integrações, dependências e atuação manual.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534247"/>
            <a:ext cx="1005840" cy="384048"/>
          </a:xfrm>
          <a:prstGeom prst="roundRect">
            <a:avLst/>
          </a:prstGeom>
          <a:solidFill>
            <a:srgbClr val="C2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02–06/11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3515959"/>
            <a:ext cx="49377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A42"/>
                </a:solidFill>
                <a:latin typeface="Aptos"/>
              </a:defRPr>
            </a:pPr>
            <a:r>
              <a:t>TO-BE + implementação</a:t>
            </a:r>
          </a:p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Desenhar responsabilidade SNOW/AAP e implementar usando contratos e padrões do BADLINK.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540087"/>
            <a:ext cx="1005840" cy="384048"/>
          </a:xfrm>
          <a:prstGeom prst="roundRect">
            <a:avLst/>
          </a:prstGeom>
          <a:solidFill>
            <a:srgbClr val="C2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09–13/11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4521799"/>
            <a:ext cx="49377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A42"/>
                </a:solidFill>
                <a:latin typeface="Aptos"/>
              </a:defRPr>
            </a:pPr>
            <a:r>
              <a:t>E2E + estabilização</a:t>
            </a:r>
          </a:p>
          <a:p>
            <a:pPr>
              <a:defRPr sz="950">
                <a:solidFill>
                  <a:srgbClr val="232A32"/>
                </a:solidFill>
                <a:latin typeface="Aptos"/>
              </a:defRPr>
            </a:pPr>
            <a:r>
              <a:t>Cenários positivos/negativos, evidências, work notes, decisão do incidente e documentação.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62672" y="1371600"/>
            <a:ext cx="3931920" cy="4480560"/>
          </a:xfrm>
          <a:prstGeom prst="roundRect">
            <a:avLst/>
          </a:prstGeom>
          <a:solidFill>
            <a:srgbClr val="E2EEF9"/>
          </a:solidFill>
          <a:ln>
            <a:solidFill>
              <a:srgbClr val="29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179796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A42"/>
                </a:solidFill>
                <a:latin typeface="Aptos Display"/>
              </a:defRPr>
            </a:pPr>
            <a:r>
              <a:t>High CPU /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2502048"/>
            <a:ext cx="359746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possui</a:t>
            </a:r>
            <a:r>
              <a:rPr dirty="0"/>
              <a:t> </a:t>
            </a:r>
            <a:r>
              <a:rPr dirty="0" err="1"/>
              <a:t>implementação</a:t>
            </a:r>
            <a:r>
              <a:rPr dirty="0"/>
              <a:t> no AAP.</a:t>
            </a:r>
          </a:p>
          <a:p>
            <a:pPr>
              <a:spcAft>
                <a:spcPts val="6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Revisar</a:t>
            </a:r>
            <a:r>
              <a:rPr dirty="0"/>
              <a:t> </a:t>
            </a:r>
            <a:r>
              <a:rPr dirty="0" err="1"/>
              <a:t>arquitetura</a:t>
            </a:r>
            <a:r>
              <a:rPr dirty="0"/>
              <a:t> e </a:t>
            </a:r>
            <a:r>
              <a:rPr dirty="0" err="1"/>
              <a:t>aderência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blueprint.</a:t>
            </a:r>
          </a:p>
          <a:p>
            <a:pPr>
              <a:spcAft>
                <a:spcPts val="6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Melhorar</a:t>
            </a:r>
            <a:r>
              <a:rPr dirty="0"/>
              <a:t> </a:t>
            </a:r>
            <a:r>
              <a:rPr dirty="0" err="1"/>
              <a:t>contratos</a:t>
            </a:r>
            <a:r>
              <a:rPr dirty="0"/>
              <a:t>, </a:t>
            </a:r>
            <a:r>
              <a:rPr dirty="0" err="1"/>
              <a:t>tratamento</a:t>
            </a:r>
            <a:r>
              <a:rPr dirty="0"/>
              <a:t> de </a:t>
            </a:r>
            <a:r>
              <a:rPr dirty="0" err="1"/>
              <a:t>falhas</a:t>
            </a:r>
            <a:r>
              <a:rPr dirty="0"/>
              <a:t> e </a:t>
            </a:r>
            <a:r>
              <a:rPr dirty="0" err="1"/>
              <a:t>observabilidade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Executar</a:t>
            </a:r>
            <a:r>
              <a:rPr dirty="0"/>
              <a:t> testes e </a:t>
            </a:r>
            <a:r>
              <a:rPr dirty="0" err="1"/>
              <a:t>documentar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Entrará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evolução</a:t>
            </a:r>
            <a:r>
              <a:rPr dirty="0"/>
              <a:t> / stretch goal se o OSPF </a:t>
            </a:r>
            <a:r>
              <a:rPr dirty="0" err="1"/>
              <a:t>consumir</a:t>
            </a:r>
            <a:r>
              <a:rPr dirty="0"/>
              <a:t> </a:t>
            </a:r>
            <a:br>
              <a:rPr lang="pt-BR" dirty="0"/>
            </a:br>
            <a:r>
              <a:rPr lang="pt-BR" dirty="0"/>
              <a:t>   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capacidade</a:t>
            </a:r>
            <a:r>
              <a:rPr dirty="0"/>
              <a:t> que o </a:t>
            </a:r>
            <a:r>
              <a:rPr dirty="0" err="1"/>
              <a:t>previsto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4919472"/>
            <a:ext cx="3310128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9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969A4"/>
                </a:solidFill>
                <a:latin typeface="Aptos"/>
              </a:defRPr>
            </a:pPr>
            <a:r>
              <a:t>Não comprometer qualidade do OSPF para encaixar uma segunda entrega.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874"/>
                </a:solidFill>
                <a:latin typeface="Aptos"/>
              </a:defRPr>
            </a:pPr>
            <a:r>
              <a:t>Planejamento inicial — sujeito a refinamento após discovery técnico e validação com Telecom.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A42"/>
                </a:solidFill>
                <a:latin typeface="Aptos Display"/>
              </a:defRPr>
            </a:pPr>
            <a:r>
              <a:t>Alinhamentos necessários em 08/10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874"/>
                </a:solidFill>
                <a:latin typeface="Aptos"/>
              </a:defRPr>
            </a:pPr>
            <a:r>
              <a:t>O que precisamos fechar com Telecom e liderança para seguir com previsibilidade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29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399032"/>
            <a:ext cx="987552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2"/>
                </a:solidFill>
                <a:latin typeface="Aptos Display"/>
              </a:defRPr>
            </a:pPr>
            <a:r>
              <a:t>Validar roadmap</a:t>
            </a:r>
          </a:p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Confirmar BADLINK LAN/WAN na Sprint 1 e OSPF como prioridade da Sprint 2.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468880"/>
            <a:ext cx="502920" cy="502920"/>
          </a:xfrm>
          <a:prstGeom prst="ellipse">
            <a:avLst/>
          </a:prstGeom>
          <a:solidFill>
            <a:srgbClr val="29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450592"/>
            <a:ext cx="987552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2"/>
                </a:solidFill>
                <a:latin typeface="Aptos Display"/>
              </a:defRPr>
            </a:pPr>
            <a:r>
              <a:t>Fechar regras WAN</a:t>
            </a:r>
          </a:p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Responsáveis, comportamento esperado, diagnóstico, exceções e critérios de encerramento.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520439"/>
            <a:ext cx="502920" cy="502920"/>
          </a:xfrm>
          <a:prstGeom prst="ellipse">
            <a:avLst/>
          </a:prstGeom>
          <a:solidFill>
            <a:srgbClr val="29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502151"/>
            <a:ext cx="987552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2"/>
                </a:solidFill>
                <a:latin typeface="Aptos Display"/>
              </a:defRPr>
            </a:pPr>
            <a:r>
              <a:t>Apoiar discovery OSPF</a:t>
            </a:r>
          </a:p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Garantir acesso ao fluxo atual e disponibilidade da operação para validar regras e cenários.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4572000"/>
            <a:ext cx="502920" cy="502920"/>
          </a:xfrm>
          <a:prstGeom prst="ellipse">
            <a:avLst/>
          </a:prstGeom>
          <a:solidFill>
            <a:srgbClr val="29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553712"/>
            <a:ext cx="987552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2"/>
                </a:solidFill>
                <a:latin typeface="Aptos Display"/>
              </a:defRPr>
            </a:pPr>
            <a:r>
              <a:t>Priorizar Sprints 3 e 4</a:t>
            </a:r>
          </a:p>
          <a:p>
            <a:pPr>
              <a:defRPr sz="1000">
                <a:solidFill>
                  <a:srgbClr val="232A32"/>
                </a:solidFill>
                <a:latin typeface="Aptos"/>
              </a:defRPr>
            </a:pPr>
            <a:r>
              <a:t>Escolher próximos ofensores usando volumetria, horas salvas, impacto, esforço e dependências.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669280"/>
            <a:ext cx="10652760" cy="594360"/>
          </a:xfrm>
          <a:prstGeom prst="roundRect">
            <a:avLst/>
          </a:prstGeom>
          <a:solidFill>
            <a:srgbClr val="F4F6F8"/>
          </a:solidFill>
          <a:ln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A42"/>
                </a:solidFill>
                <a:latin typeface="Aptos"/>
              </a:defRPr>
            </a:pPr>
            <a:r>
              <a:t>Critério para próximos itens: volume de incidentes + tempo manual + impacto + complexidade + dependências + potencial de resolução automática.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874"/>
                </a:solidFill>
                <a:latin typeface="Aptos"/>
              </a:defRPr>
            </a:pPr>
            <a:r>
              <a:t>Objetivo do alinhamento: sair da reunião com prioridades e dependências claras, sem assumir uma migração em massa do backlog.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812</Words>
  <Application>Microsoft Office PowerPoint</Application>
  <PresentationFormat>Widescreen</PresentationFormat>
  <Paragraphs>113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Yasmim Duarte</cp:lastModifiedBy>
  <cp:revision>3</cp:revision>
  <dcterms:created xsi:type="dcterms:W3CDTF">2013-01-27T09:14:16Z</dcterms:created>
  <dcterms:modified xsi:type="dcterms:W3CDTF">2026-10-06T21:05:16Z</dcterms:modified>
  <cp:category/>
</cp:coreProperties>
</file>