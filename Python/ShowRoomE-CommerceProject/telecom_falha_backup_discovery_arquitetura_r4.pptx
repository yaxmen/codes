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AAP  •  ITAÚMON  • 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Falha de Backup | Primeira arquitetura de automação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08760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9BACC"/>
                </a:solidFill>
                <a:latin typeface="Aptos"/>
              </a:defRPr>
            </a:pPr>
            <a:r>
              <a:t>MVP Cisco  |  Discovery operacional com Telecom  |  20/10/2026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76272"/>
            <a:ext cx="11064240" cy="2423160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32888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8426"/>
                </a:solidFill>
                <a:latin typeface="Aptos"/>
              </a:defRPr>
            </a:pPr>
            <a:r>
              <a:t>OBJETIVO DA R4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108960"/>
            <a:ext cx="10332720" cy="10058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EDF3FA"/>
                </a:solidFill>
                <a:latin typeface="Aptos"/>
              </a:defRPr>
            </a:pPr>
            <a:r>
              <a:t>Diagnosticar falhas padronizadas, executar correções seguras, solicitar novo backup no ItaúMon e encerrar o incidente no ServiceNow somente após confirmação de sucesso.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926080" cy="594360"/>
          </a:xfrm>
          <a:prstGeom prst="roundRect">
            <a:avLst/>
          </a:prstGeom>
          <a:solidFill>
            <a:srgbClr val="192D46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257800"/>
            <a:ext cx="338328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A3EF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120640"/>
            <a:ext cx="2926080" cy="594360"/>
          </a:xfrm>
          <a:prstGeom prst="roundRect">
            <a:avLst/>
          </a:prstGeom>
          <a:solidFill>
            <a:srgbClr val="192D46"/>
          </a:solidFill>
          <a:ln w="16510">
            <a:solidFill>
              <a:srgbClr val="F4C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5257800"/>
            <a:ext cx="338328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4C049"/>
                </a:solidFill>
                <a:latin typeface="Aptos"/>
              </a:defRPr>
            </a:pPr>
            <a:r>
              <a:t>Correção controlada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120640"/>
            <a:ext cx="3657600" cy="594360"/>
          </a:xfrm>
          <a:prstGeom prst="roundRect">
            <a:avLst/>
          </a:prstGeom>
          <a:solidFill>
            <a:srgbClr val="192D46"/>
          </a:solidFill>
          <a:ln w="16510">
            <a:solidFill>
              <a:srgbClr val="34C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5257800"/>
            <a:ext cx="338328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4C774"/>
                </a:solidFill>
                <a:latin typeface="Aptos"/>
              </a:defRPr>
            </a:pPr>
            <a:r>
              <a:t>Validação + encerramento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Escopo inicial | O que entra no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08760"/>
            <a:ext cx="11018520" cy="512064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Cenário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Incidentes de FALHA DE 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11018520" cy="512064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Fabricante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Cisco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79"/>
            <a:ext cx="11018520" cy="512064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Plataformas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IOS • IOS-XE • IOS-XR • NX-OS • ASA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91839"/>
            <a:ext cx="11018520" cy="512064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79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Orquestração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83279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Ansible Automation Platform (AAP)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11018520" cy="512064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77639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Monitoramento / backup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39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ItaúMon — nova tentativa e validação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80560"/>
            <a:ext cx="11018520" cy="512064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Gestão de incidentes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57200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ServiceNow — evidências e encerramento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74920"/>
            <a:ext cx="11018520" cy="512064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Meta de sucesso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6636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Backup confirmado + incidente encerrado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69280"/>
            <a:ext cx="11018520" cy="512064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28346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8426"/>
                </a:solidFill>
                <a:latin typeface="Aptos"/>
              </a:defRPr>
            </a:pPr>
            <a:r>
              <a:t>Fora do escopo inicial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760720"/>
            <a:ext cx="7589520" cy="35661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GMUD, rotas complexas, falhas físicas e limpeza de flash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Fluxo AAP | Caminho de diagnóstico e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81912"/>
            <a:ext cx="2359152" cy="978408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DF3FA"/>
                </a:solidFill>
                <a:latin typeface="Aptos"/>
              </a:defRPr>
            </a:pPr>
            <a:r>
              <a:t>01  ServiceNow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103120"/>
            <a:ext cx="21031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Incidente + host/IP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81912"/>
            <a:ext cx="2359152" cy="978408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DF3FA"/>
                </a:solidFill>
                <a:latin typeface="Aptos"/>
              </a:defRPr>
            </a:pPr>
            <a:r>
              <a:t>02  AAP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103120"/>
            <a:ext cx="21031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Inventário + acesso SSH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81912"/>
            <a:ext cx="2359152" cy="978408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DF3FA"/>
                </a:solidFill>
                <a:latin typeface="Aptos"/>
              </a:defRPr>
            </a:pPr>
            <a:r>
              <a:t>03  ItaúMon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103120"/>
            <a:ext cx="21031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Solicitar novo backup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81912"/>
            <a:ext cx="2359152" cy="978408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DF3FA"/>
                </a:solidFill>
                <a:latin typeface="Aptos"/>
              </a:defRPr>
            </a:pPr>
            <a:r>
              <a:t>04  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103120"/>
            <a:ext cx="21031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Confirmar evidência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2075688"/>
            <a:ext cx="429768" cy="0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79592" y="2075688"/>
            <a:ext cx="429767" cy="0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59952" y="2075688"/>
            <a:ext cx="429768" cy="0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24160" y="2578608"/>
            <a:ext cx="0" cy="475488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92440" y="3072384"/>
            <a:ext cx="3511296" cy="594360"/>
          </a:xfrm>
          <a:prstGeom prst="roundRect">
            <a:avLst/>
          </a:prstGeom>
          <a:solidFill>
            <a:srgbClr val="192D46"/>
          </a:solidFill>
          <a:ln w="16510">
            <a:solidFill>
              <a:srgbClr val="F4C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218688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C049"/>
                </a:solidFill>
                <a:latin typeface="Aptos"/>
              </a:defRPr>
            </a:pPr>
            <a:r>
              <a:t>Backup concluído?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3675887"/>
            <a:ext cx="0" cy="457200"/>
          </a:xfrm>
          <a:prstGeom prst="line">
            <a:avLst/>
          </a:prstGeom>
          <a:ln w="27940">
            <a:solidFill>
              <a:srgbClr val="34C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57616" y="3776472"/>
            <a:ext cx="521207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4C774"/>
                </a:solidFill>
                <a:latin typeface="Aptos"/>
              </a:defRPr>
            </a:pPr>
            <a:r>
              <a:t>SIM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187952"/>
            <a:ext cx="3493008" cy="109728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4C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325112"/>
            <a:ext cx="30632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34C774"/>
                </a:solidFill>
                <a:latin typeface="Aptos"/>
              </a:defRPr>
            </a:pPr>
            <a:r>
              <a:t>SUCESSO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681728"/>
            <a:ext cx="3063240" cy="4754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Registrar evidências e encerrar incidente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242048" y="3383280"/>
            <a:ext cx="841248" cy="0"/>
          </a:xfrm>
          <a:prstGeom prst="line">
            <a:avLst/>
          </a:prstGeom>
          <a:ln w="27940">
            <a:solidFill>
              <a:srgbClr val="EF5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69480" y="3072384"/>
            <a:ext cx="640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EF5B60"/>
                </a:solidFill>
                <a:latin typeface="Aptos"/>
              </a:defRPr>
            </a:pPr>
            <a:r>
              <a:t>NÃO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054096"/>
            <a:ext cx="3017520" cy="950976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FF8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191256"/>
            <a:ext cx="25603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8426"/>
                </a:solidFill>
                <a:latin typeface="Aptos"/>
              </a:defRPr>
            </a:pPr>
            <a:r>
              <a:t>Verificar SCP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566160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Comando por plataforma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87568" y="4014215"/>
            <a:ext cx="0" cy="374905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06240" y="4425696"/>
            <a:ext cx="3017520" cy="94183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F4C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4581144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C049"/>
                </a:solidFill>
                <a:latin typeface="Aptos"/>
              </a:defRPr>
            </a:pPr>
            <a:r>
              <a:t>Correção autorizada?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4928616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Se aplicável, ajustar SCP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11880" y="4873752"/>
            <a:ext cx="548640" cy="0"/>
          </a:xfrm>
          <a:prstGeom prst="line">
            <a:avLst/>
          </a:prstGeom>
          <a:ln w="27940">
            <a:solidFill>
              <a:srgbClr val="EF5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03504" y="4361688"/>
            <a:ext cx="2990088" cy="1088136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EF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4526280"/>
            <a:ext cx="26060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F5B60"/>
                </a:solidFill>
                <a:latin typeface="Aptos"/>
              </a:defRPr>
            </a:pPr>
            <a:r>
              <a:t>FALHA / EXCEÇÃO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4882896"/>
            <a:ext cx="2606040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Evidenciar e encaminhar à operação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15000" y="5385816"/>
            <a:ext cx="0" cy="356616"/>
          </a:xfrm>
          <a:prstGeom prst="line">
            <a:avLst/>
          </a:prstGeom>
          <a:ln w="27940">
            <a:solidFill>
              <a:srgbClr val="4FA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0" y="5669280"/>
            <a:ext cx="4754880" cy="30175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FA3EF"/>
                </a:solidFill>
                <a:latin typeface="Aptos"/>
              </a:defRPr>
            </a:pPr>
            <a:r>
              <a:t>Reexecutar via API e revalidar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099048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ACC"/>
                </a:solidFill>
                <a:latin typeface="Aptos"/>
              </a:defRPr>
            </a:pPr>
            <a:r>
              <a:t>* Acesso negado, erro de API, timeout e casos fora do padrão seguem para tratamento manual.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Discovery | O que já foi esclarecido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0292" cy="1353312"/>
          </a:xfrm>
          <a:prstGeom prst="rect">
            <a:avLst/>
          </a:prstGeom>
          <a:solidFill>
            <a:srgbClr val="4FA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2821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FA3EF"/>
                </a:solidFill>
                <a:latin typeface="Aptos"/>
              </a:defRPr>
            </a:pPr>
            <a:r>
              <a:t>1  Acesso primeiro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Validar SSH/autenticação antes de tentar correções. Problemas físicos e de cofre exigem análise.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7276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72768"/>
            <a:ext cx="50292" cy="1353312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2821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2  Retentativa pelo ItaúMon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Operação solicita novo backup pela interface. Integração via API é hipótese a confirmar.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8152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081528"/>
            <a:ext cx="50292" cy="1353312"/>
          </a:xfrm>
          <a:prstGeom prst="rect">
            <a:avLst/>
          </a:prstGeom>
          <a:solidFill>
            <a:srgbClr val="F4C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3697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4C049"/>
                </a:solidFill>
                <a:latin typeface="Aptos"/>
              </a:defRPr>
            </a:pPr>
            <a:r>
              <a:t>3  SCP como correção candidata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Verificar se está habilitado; ativar apenas quando aplicável, permitido e validado.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08152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081528"/>
            <a:ext cx="50292" cy="1353312"/>
          </a:xfrm>
          <a:prstGeom prst="rect">
            <a:avLst/>
          </a:prstGeom>
          <a:solidFill>
            <a:srgbClr val="34C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3697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4C774"/>
                </a:solidFill>
                <a:latin typeface="Aptos"/>
              </a:defRPr>
            </a:pPr>
            <a:r>
              <a:t>4  Backup precisa de evidência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03320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Sucesso não é apenas comando executado: confirmar retorno e data do backup no ItaúMon.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50292" cy="1353312"/>
          </a:xfrm>
          <a:prstGeom prst="rect">
            <a:avLst/>
          </a:prstGeom>
          <a:solidFill>
            <a:srgbClr val="EF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4573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5B60"/>
                </a:solidFill>
                <a:latin typeface="Aptos"/>
              </a:defRPr>
            </a:pPr>
            <a:r>
              <a:t>5  Limites de automação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212079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Flash cheia: diagnosticar e encaminhar. Mudanças complexas/múltiplos equipamentos: fora do MVP.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53312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590288"/>
            <a:ext cx="50292" cy="1353312"/>
          </a:xfrm>
          <a:prstGeom prst="rect">
            <a:avLst/>
          </a:prstGeom>
          <a:solidFill>
            <a:srgbClr val="4FA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74573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FA3EF"/>
                </a:solidFill>
                <a:latin typeface="Aptos"/>
              </a:defRPr>
            </a:pPr>
            <a:r>
              <a:t>6  Priorização técnica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212079"/>
            <a:ext cx="5029200" cy="6675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Começar por Cisco IOS demonstrado pelo Eduardo; expandir por plataforma após testes.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Dependências | O que precisamos levantar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50292" cy="13716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39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Inventário Cisco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57984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Lista de hosts elegíveis, hostname/IP, família de SO e grupos de inventário.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36192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50292" cy="1371600"/>
          </a:xfrm>
          <a:prstGeom prst="rect">
            <a:avLst/>
          </a:prstGeom>
          <a:solidFill>
            <a:srgbClr val="4FA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39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FA3EF"/>
                </a:solidFill>
                <a:latin typeface="Aptos"/>
              </a:defRPr>
            </a:pPr>
            <a:r>
              <a:t>Credenciais e privilégios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57984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Acesso SSH, método de autenticação e autorização para comandos de configuração.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63239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063239"/>
            <a:ext cx="50292" cy="13716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18687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Execution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685031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Collections Cisco (ios, iosxr, nxos, asa), versões e compatibilidade por plataforma.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063239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063239"/>
            <a:ext cx="50292" cy="1371600"/>
          </a:xfrm>
          <a:prstGeom prst="rect">
            <a:avLst/>
          </a:prstGeom>
          <a:solidFill>
            <a:srgbClr val="4FA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18687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FA3EF"/>
                </a:solidFill>
                <a:latin typeface="Aptos"/>
              </a:defRPr>
            </a:pPr>
            <a:r>
              <a:t>API ItaúMon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85031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Endpoint, token, payload, solicitação assíncrona, consulta de status e timeout.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50292" cy="13716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4573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212079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Gatilho, payload de entrada, work notes, códigos de resolução e política de encerramento.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716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0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590288"/>
            <a:ext cx="50292" cy="1371600"/>
          </a:xfrm>
          <a:prstGeom prst="rect">
            <a:avLst/>
          </a:prstGeom>
          <a:solidFill>
            <a:srgbClr val="4FA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745736"/>
            <a:ext cx="507492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FA3EF"/>
                </a:solidFill>
                <a:latin typeface="Aptos"/>
              </a:defRPr>
            </a:pPr>
            <a:r>
              <a:t>Governança operacional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212079"/>
            <a:ext cx="50292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3FA"/>
                </a:solidFill>
                <a:latin typeface="Aptos"/>
              </a:defRPr>
            </a:pPr>
            <a:r>
              <a:t>Critérios de elegibilidade, mudanças permitidas, exceções, reprocessamento e escalonamento.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Plano de implementação | Sprints 2 a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383280" cy="34290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4FA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299923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FA3EF"/>
                </a:solidFill>
                <a:latin typeface="Aptos"/>
              </a:defRPr>
            </a:pPr>
            <a:r>
              <a:t>SPRINT 2  |  FUNDAÇÃO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71800"/>
            <a:ext cx="2926080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Inventário Cisco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Conectividade e credenciais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Detecção da plataforma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Primeiro teste da API ItaúMon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83280" cy="34290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FF8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299923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8426"/>
                </a:solidFill>
                <a:latin typeface="Aptos"/>
              </a:defRPr>
            </a:pPr>
            <a:r>
              <a:t>SPRINT 3  |  LÓGICA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2926080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Diagnóstico IOS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Verificação de SCP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Correção controlada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Retentativa e tratamento de exceções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783080"/>
            <a:ext cx="3383280" cy="3429000"/>
          </a:xfrm>
          <a:prstGeom prst="roundRect">
            <a:avLst/>
          </a:prstGeom>
          <a:solidFill>
            <a:srgbClr val="132339"/>
          </a:solidFill>
          <a:ln w="16510">
            <a:solidFill>
              <a:srgbClr val="34C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039112"/>
            <a:ext cx="299923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4C774"/>
                </a:solidFill>
                <a:latin typeface="Aptos"/>
              </a:defRPr>
            </a:pPr>
            <a:r>
              <a:t>SPRINT 4  | 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971800"/>
            <a:ext cx="2926080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Integração ServiceNow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Evidências e fechamento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Testes controlados</a:t>
            </a:r>
          </a:p>
          <a:p>
            <a:pPr>
              <a:spcAft>
                <a:spcPts val="500"/>
              </a:spcAft>
              <a:defRPr sz="1700" b="0">
                <a:solidFill>
                  <a:srgbClr val="EDF3FA"/>
                </a:solidFill>
                <a:latin typeface="Aptos"/>
              </a:defRPr>
            </a:pPr>
            <a:r>
              <a:t>Estabilização antes do freeze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0408"/>
            <a:ext cx="10881360" cy="566928"/>
          </a:xfrm>
          <a:prstGeom prst="roundRect">
            <a:avLst/>
          </a:prstGeom>
          <a:solidFill>
            <a:srgbClr val="192D46"/>
          </a:solidFill>
          <a:ln w="16510">
            <a:solidFill>
              <a:srgbClr val="F4C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87568"/>
            <a:ext cx="1033272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4C049"/>
                </a:solidFill>
                <a:latin typeface="Aptos"/>
              </a:defRPr>
            </a:pPr>
            <a:r>
              <a:t>GATE DE SUCESSO: encerrar somente após backup efetivamente confirmado no ItaúMon.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8426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1201400" cy="685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DF3FA"/>
                </a:solidFill>
                <a:latin typeface="Aptos"/>
              </a:defRPr>
            </a:pPr>
            <a:r>
              <a:t>Próximos alinhamentos | Perguntas para o Eduardo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6519672"/>
            <a:ext cx="11155680" cy="12801"/>
          </a:xfrm>
          <a:prstGeom prst="rect">
            <a:avLst/>
          </a:prstGeom>
          <a:solidFill>
            <a:srgbClr val="39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583680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DISCOVERY  •  FALHA DE BACKUP  •  VERSÃO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54864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A9BA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17904"/>
            <a:ext cx="10972800" cy="777240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00784"/>
            <a:ext cx="18288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ItaúMon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673351"/>
            <a:ext cx="8641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Como solicitar backup pela API? Qual retorno comprova conclusão e onde consultar falha?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450591"/>
            <a:ext cx="10972800" cy="777240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33472"/>
            <a:ext cx="18288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Cisco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606039"/>
            <a:ext cx="8641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Quais comandos por IOS, IOS-XE, IOS-XR, NX-OS e ASA? Quais requerem privilégio?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383280"/>
            <a:ext cx="10972800" cy="777240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566160"/>
            <a:ext cx="18288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Correção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538728"/>
            <a:ext cx="8641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Em quais condições habilitar SCP sem GMUD? Há exceções por tipo de equipamento?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4315968"/>
            <a:ext cx="10972800" cy="777240"/>
          </a:xfrm>
          <a:prstGeom prst="round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498848"/>
            <a:ext cx="18288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Incidentes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4471416"/>
            <a:ext cx="8641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Qual critério de encerramento, prioridade elegível e campos obrigatórios no ServiceNow?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248656"/>
            <a:ext cx="10972800" cy="777240"/>
          </a:xfrm>
          <a:prstGeom prst="roundRect">
            <a:avLst/>
          </a:prstGeom>
          <a:solidFill>
            <a:srgbClr val="13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5431536"/>
            <a:ext cx="18288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426"/>
                </a:solidFill>
                <a:latin typeface="Aptos"/>
              </a:defRPr>
            </a:pPr>
            <a:r>
              <a:t>Falhas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5404104"/>
            <a:ext cx="8641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3FA"/>
                </a:solidFill>
                <a:latin typeface="Aptos"/>
              </a:defRPr>
            </a:pPr>
            <a:r>
              <a:t>Quando encaminhar para outro grupo? Qual timeout/retry e limite de tentativas?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