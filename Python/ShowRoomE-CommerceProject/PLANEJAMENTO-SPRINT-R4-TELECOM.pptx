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7FF739-D167-C9F4-4415-B6D65BB10EE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16563" y="6672580"/>
            <a:ext cx="11874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800">
                <a:solidFill>
                  <a:srgbClr val="2E404D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Sensitivity Label: General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C7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39351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rPr dirty="0"/>
              <a:t>R4 Telecom | </a:t>
            </a:r>
            <a:r>
              <a:rPr lang="pt-BR" dirty="0"/>
              <a:t>Roadmap proposto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109167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EBECF"/>
                </a:solidFill>
                <a:latin typeface="Aptos"/>
              </a:defRPr>
            </a:pPr>
            <a:r>
              <a:rPr dirty="0" err="1"/>
              <a:t>Proposta</a:t>
            </a:r>
            <a:r>
              <a:rPr dirty="0"/>
              <a:t> </a:t>
            </a:r>
            <a:r>
              <a:rPr dirty="0" err="1"/>
              <a:t>revisada</a:t>
            </a:r>
            <a:r>
              <a:rPr dirty="0"/>
              <a:t> </a:t>
            </a:r>
            <a:r>
              <a:rPr dirty="0" err="1"/>
              <a:t>após</a:t>
            </a:r>
            <a:r>
              <a:rPr dirty="0"/>
              <a:t> </a:t>
            </a:r>
            <a:r>
              <a:rPr dirty="0" err="1"/>
              <a:t>alinhamento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prioridade</a:t>
            </a:r>
            <a:r>
              <a:rPr dirty="0"/>
              <a:t> </a:t>
            </a:r>
            <a:r>
              <a:rPr dirty="0" err="1"/>
              <a:t>operacional</a:t>
            </a:r>
            <a:r>
              <a:rPr dirty="0"/>
              <a:t> e </a:t>
            </a:r>
            <a:r>
              <a:rPr dirty="0" err="1"/>
              <a:t>arquitetura</a:t>
            </a:r>
            <a:r>
              <a:rPr dirty="0"/>
              <a:t> dos </a:t>
            </a:r>
            <a:r>
              <a:rPr dirty="0" err="1"/>
              <a:t>fluxos</a:t>
            </a:r>
            <a:r>
              <a:rPr lang="pt-BR" dirty="0"/>
              <a:t>. </a:t>
            </a:r>
          </a:p>
          <a:p>
            <a:pPr algn="r">
              <a:defRPr sz="1050">
                <a:solidFill>
                  <a:srgbClr val="AEBECF"/>
                </a:solidFill>
                <a:latin typeface="Aptos"/>
              </a:defRPr>
            </a:pPr>
            <a:r>
              <a:rPr lang="pt-BR" dirty="0"/>
              <a:t>Prioridade principal por sprint; Sprints 3 e 4 sujeitas à confirmação com Telecom.</a:t>
            </a:r>
          </a:p>
          <a:p>
            <a:pPr>
              <a:defRPr sz="1050">
                <a:solidFill>
                  <a:srgbClr val="AEBECF"/>
                </a:solidFill>
                <a:latin typeface="Aptos"/>
              </a:defRPr>
            </a:pP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585216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EBECF"/>
                </a:solidFill>
                <a:latin typeface="Aptos"/>
              </a:defRPr>
            </a:pPr>
            <a:r>
              <a:t>R4 Telecom • Planejamento para alinhamento em 08/10</a:t>
            </a:r>
          </a:p>
        </p:txBody>
      </p:sp>
      <p:sp>
        <p:nvSpPr>
          <p:cNvPr id="18" name="Rounded Rectangle 4">
            <a:extLst>
              <a:ext uri="{FF2B5EF4-FFF2-40B4-BE49-F238E27FC236}">
                <a16:creationId xmlns:a16="http://schemas.microsoft.com/office/drawing/2014/main" id="{F648A977-4530-6C5D-6548-9A9EE2322A31}"/>
              </a:ext>
            </a:extLst>
          </p:cNvPr>
          <p:cNvSpPr/>
          <p:nvPr/>
        </p:nvSpPr>
        <p:spPr>
          <a:xfrm>
            <a:off x="438912" y="1627632"/>
            <a:ext cx="2697480" cy="4526280"/>
          </a:xfrm>
          <a:prstGeom prst="roundRect">
            <a:avLst/>
          </a:prstGeom>
          <a:solidFill>
            <a:srgbClr val="113150"/>
          </a:solidFill>
          <a:ln w="19050">
            <a:solidFill>
              <a:srgbClr val="EC7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FE03A3-C516-A5B4-1EC3-209DB8C8D143}"/>
              </a:ext>
            </a:extLst>
          </p:cNvPr>
          <p:cNvSpPr txBox="1"/>
          <p:nvPr/>
        </p:nvSpPr>
        <p:spPr>
          <a:xfrm>
            <a:off x="603503" y="1837944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C7014"/>
                </a:solidFill>
                <a:latin typeface="Aptos"/>
              </a:defRPr>
            </a:pPr>
            <a:r>
              <a:t>SPRINT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6E8927-F7D6-F712-631B-9A6A077E2BF5}"/>
              </a:ext>
            </a:extLst>
          </p:cNvPr>
          <p:cNvSpPr txBox="1"/>
          <p:nvPr/>
        </p:nvSpPr>
        <p:spPr>
          <a:xfrm>
            <a:off x="603503" y="2148840"/>
            <a:ext cx="2359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EBECF"/>
                </a:solidFill>
                <a:latin typeface="Aptos"/>
              </a:defRPr>
            </a:pPr>
            <a:r>
              <a:t>05/10 – 23/10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FC667F-108F-CE8D-FE79-96FCD3856CCD}"/>
              </a:ext>
            </a:extLst>
          </p:cNvPr>
          <p:cNvSpPr txBox="1"/>
          <p:nvPr/>
        </p:nvSpPr>
        <p:spPr>
          <a:xfrm>
            <a:off x="1062144" y="2542032"/>
            <a:ext cx="1441869" cy="3308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50" b="1">
                <a:solidFill>
                  <a:srgbClr val="F8FAFC"/>
                </a:solidFill>
                <a:latin typeface="Aptos Display"/>
              </a:defRPr>
            </a:pPr>
            <a:r>
              <a:t>BADLINK WAN</a:t>
            </a:r>
          </a:p>
        </p:txBody>
      </p:sp>
      <p:sp>
        <p:nvSpPr>
          <p:cNvPr id="26" name="Rounded Rectangle 8">
            <a:extLst>
              <a:ext uri="{FF2B5EF4-FFF2-40B4-BE49-F238E27FC236}">
                <a16:creationId xmlns:a16="http://schemas.microsoft.com/office/drawing/2014/main" id="{E31104D5-4C9E-CB29-5014-6D6974304C74}"/>
              </a:ext>
            </a:extLst>
          </p:cNvPr>
          <p:cNvSpPr/>
          <p:nvPr/>
        </p:nvSpPr>
        <p:spPr>
          <a:xfrm>
            <a:off x="786383" y="3328416"/>
            <a:ext cx="1965960" cy="347472"/>
          </a:xfrm>
          <a:prstGeom prst="roundRect">
            <a:avLst/>
          </a:prstGeom>
          <a:solidFill>
            <a:srgbClr val="EC7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81D35"/>
                </a:solidFill>
                <a:latin typeface="Aptos"/>
              </a:defRPr>
            </a:pPr>
            <a:r>
              <a:rPr dirty="0" err="1"/>
              <a:t>Prioridade</a:t>
            </a:r>
            <a:r>
              <a:rPr dirty="0"/>
              <a:t> </a:t>
            </a:r>
            <a:r>
              <a:rPr dirty="0" err="1"/>
              <a:t>confirmada</a:t>
            </a:r>
            <a:endParaRPr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C4553F-4604-E8CA-5D85-D85B98ACDD7C}"/>
              </a:ext>
            </a:extLst>
          </p:cNvPr>
          <p:cNvSpPr txBox="1"/>
          <p:nvPr/>
        </p:nvSpPr>
        <p:spPr>
          <a:xfrm>
            <a:off x="603503" y="3913632"/>
            <a:ext cx="23317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Aptos"/>
              </a:defRPr>
            </a:pPr>
            <a:r>
              <a:t>• Discovery técnico do WAN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Aptos"/>
              </a:defRPr>
            </a:pPr>
            <a:r>
              <a:t>• Mapear AS-IS / regras operacionais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Aptos"/>
              </a:defRPr>
            </a:pPr>
            <a:r>
              <a:t>• Definir arquitetura no AAP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Aptos"/>
              </a:defRPr>
            </a:pPr>
            <a:r>
              <a:t>• Implementar + validar E2E</a:t>
            </a:r>
          </a:p>
        </p:txBody>
      </p:sp>
      <p:sp>
        <p:nvSpPr>
          <p:cNvPr id="30" name="Rounded Rectangle 10">
            <a:extLst>
              <a:ext uri="{FF2B5EF4-FFF2-40B4-BE49-F238E27FC236}">
                <a16:creationId xmlns:a16="http://schemas.microsoft.com/office/drawing/2014/main" id="{7056E53D-40AF-B0F4-CCC3-D4B9E15958BE}"/>
              </a:ext>
            </a:extLst>
          </p:cNvPr>
          <p:cNvSpPr/>
          <p:nvPr/>
        </p:nvSpPr>
        <p:spPr>
          <a:xfrm>
            <a:off x="3346704" y="1627632"/>
            <a:ext cx="2697480" cy="4526280"/>
          </a:xfrm>
          <a:prstGeom prst="roundRect">
            <a:avLst/>
          </a:prstGeom>
          <a:solidFill>
            <a:srgbClr val="113150"/>
          </a:solidFill>
          <a:ln w="19050">
            <a:solidFill>
              <a:srgbClr val="23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53A7E6-37F6-855D-155A-F9D66E1C386D}"/>
              </a:ext>
            </a:extLst>
          </p:cNvPr>
          <p:cNvSpPr txBox="1"/>
          <p:nvPr/>
        </p:nvSpPr>
        <p:spPr>
          <a:xfrm>
            <a:off x="3511296" y="1837944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368A4"/>
                </a:solidFill>
                <a:latin typeface="Aptos"/>
              </a:defRPr>
            </a:pPr>
            <a:r>
              <a:t>SPRINT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B18B84-8622-DF7E-314D-C549999C389D}"/>
              </a:ext>
            </a:extLst>
          </p:cNvPr>
          <p:cNvSpPr txBox="1"/>
          <p:nvPr/>
        </p:nvSpPr>
        <p:spPr>
          <a:xfrm>
            <a:off x="3511296" y="2148840"/>
            <a:ext cx="2359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EBECF"/>
                </a:solidFill>
                <a:latin typeface="Aptos"/>
              </a:defRPr>
            </a:pPr>
            <a:r>
              <a:t>26/10 – 13/11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EBC676-AB52-F7D1-A87A-52E6178B201F}"/>
              </a:ext>
            </a:extLst>
          </p:cNvPr>
          <p:cNvSpPr txBox="1"/>
          <p:nvPr/>
        </p:nvSpPr>
        <p:spPr>
          <a:xfrm>
            <a:off x="3374742" y="2542032"/>
            <a:ext cx="2632260" cy="3308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50" b="1">
                <a:solidFill>
                  <a:srgbClr val="F8FAFC"/>
                </a:solidFill>
                <a:latin typeface="Aptos Display"/>
              </a:defRPr>
            </a:pPr>
            <a:r>
              <a:rPr dirty="0"/>
              <a:t>OSPF Neighbor State Change</a:t>
            </a:r>
          </a:p>
        </p:txBody>
      </p:sp>
      <p:sp>
        <p:nvSpPr>
          <p:cNvPr id="38" name="Rounded Rectangle 14">
            <a:extLst>
              <a:ext uri="{FF2B5EF4-FFF2-40B4-BE49-F238E27FC236}">
                <a16:creationId xmlns:a16="http://schemas.microsoft.com/office/drawing/2014/main" id="{4DF3B0DC-8182-0C16-C9FD-AD856F157860}"/>
              </a:ext>
            </a:extLst>
          </p:cNvPr>
          <p:cNvSpPr/>
          <p:nvPr/>
        </p:nvSpPr>
        <p:spPr>
          <a:xfrm>
            <a:off x="3721608" y="3328416"/>
            <a:ext cx="1965960" cy="347472"/>
          </a:xfrm>
          <a:prstGeom prst="roundRect">
            <a:avLst/>
          </a:prstGeom>
          <a:solidFill>
            <a:srgbClr val="236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81D35"/>
                </a:solidFill>
                <a:latin typeface="Aptos"/>
              </a:defRPr>
            </a:pPr>
            <a:r>
              <a:rPr dirty="0" err="1"/>
              <a:t>Prioridade</a:t>
            </a:r>
            <a:r>
              <a:rPr dirty="0"/>
              <a:t> </a:t>
            </a:r>
            <a:r>
              <a:rPr dirty="0" err="1"/>
              <a:t>confirmada</a:t>
            </a:r>
            <a:endParaRPr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56ACE2-C6AD-647A-79D9-987A5D207CA4}"/>
              </a:ext>
            </a:extLst>
          </p:cNvPr>
          <p:cNvSpPr txBox="1"/>
          <p:nvPr/>
        </p:nvSpPr>
        <p:spPr>
          <a:xfrm>
            <a:off x="3511296" y="3913632"/>
            <a:ext cx="23317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Aptos"/>
              </a:defRPr>
            </a:pPr>
            <a:r>
              <a:t>• Discovery do fluxo atual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Aptos"/>
              </a:defRPr>
            </a:pPr>
            <a:r>
              <a:t>• Mapear dependências / Flow Designer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Aptos"/>
              </a:defRPr>
            </a:pPr>
            <a:r>
              <a:t>• Aplicar aprendizados do BADLINK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Aptos"/>
              </a:defRPr>
            </a:pPr>
            <a:r>
              <a:t>• Implementar e testar</a:t>
            </a:r>
          </a:p>
        </p:txBody>
      </p:sp>
      <p:sp>
        <p:nvSpPr>
          <p:cNvPr id="42" name="Rounded Rectangle 16">
            <a:extLst>
              <a:ext uri="{FF2B5EF4-FFF2-40B4-BE49-F238E27FC236}">
                <a16:creationId xmlns:a16="http://schemas.microsoft.com/office/drawing/2014/main" id="{65E2DC70-198B-1EF0-944C-B1996F008D63}"/>
              </a:ext>
            </a:extLst>
          </p:cNvPr>
          <p:cNvSpPr/>
          <p:nvPr/>
        </p:nvSpPr>
        <p:spPr>
          <a:xfrm>
            <a:off x="6254496" y="1627632"/>
            <a:ext cx="2697480" cy="4526280"/>
          </a:xfrm>
          <a:prstGeom prst="roundRect">
            <a:avLst/>
          </a:prstGeom>
          <a:solidFill>
            <a:srgbClr val="113150"/>
          </a:solidFill>
          <a:ln w="19050">
            <a:solidFill>
              <a:srgbClr val="EFB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55E324-B269-AE63-CA4B-0DE41EEDE1C2}"/>
              </a:ext>
            </a:extLst>
          </p:cNvPr>
          <p:cNvSpPr txBox="1"/>
          <p:nvPr/>
        </p:nvSpPr>
        <p:spPr>
          <a:xfrm>
            <a:off x="6419088" y="1837944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FBB4A"/>
                </a:solidFill>
                <a:latin typeface="Aptos"/>
              </a:defRPr>
            </a:pPr>
            <a:r>
              <a:t>SPRINT 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4F03EB-4D9C-C4D5-0BBB-77E9F962F305}"/>
              </a:ext>
            </a:extLst>
          </p:cNvPr>
          <p:cNvSpPr txBox="1"/>
          <p:nvPr/>
        </p:nvSpPr>
        <p:spPr>
          <a:xfrm>
            <a:off x="6419088" y="2148840"/>
            <a:ext cx="2359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EBECF"/>
                </a:solidFill>
                <a:latin typeface="Aptos"/>
              </a:defRPr>
            </a:pPr>
            <a:r>
              <a:t>16/11 – 04/12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1BC98B8-2FF9-2B94-0E27-3009D681E41A}"/>
              </a:ext>
            </a:extLst>
          </p:cNvPr>
          <p:cNvSpPr txBox="1"/>
          <p:nvPr/>
        </p:nvSpPr>
        <p:spPr>
          <a:xfrm>
            <a:off x="6676071" y="2542032"/>
            <a:ext cx="1845185" cy="3308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50" b="1">
                <a:solidFill>
                  <a:srgbClr val="F8FAFC"/>
                </a:solidFill>
                <a:latin typeface="Aptos Display"/>
              </a:defRPr>
            </a:pPr>
            <a:r>
              <a:rPr dirty="0"/>
              <a:t>High CPU / Memory</a:t>
            </a:r>
          </a:p>
        </p:txBody>
      </p:sp>
      <p:sp>
        <p:nvSpPr>
          <p:cNvPr id="50" name="Rounded Rectangle 20">
            <a:extLst>
              <a:ext uri="{FF2B5EF4-FFF2-40B4-BE49-F238E27FC236}">
                <a16:creationId xmlns:a16="http://schemas.microsoft.com/office/drawing/2014/main" id="{C8C3AE43-5911-4D47-04D6-96BDEA89D4D8}"/>
              </a:ext>
            </a:extLst>
          </p:cNvPr>
          <p:cNvSpPr/>
          <p:nvPr/>
        </p:nvSpPr>
        <p:spPr>
          <a:xfrm>
            <a:off x="6629400" y="3328416"/>
            <a:ext cx="1965960" cy="347472"/>
          </a:xfrm>
          <a:prstGeom prst="roundRect">
            <a:avLst/>
          </a:prstGeom>
          <a:solidFill>
            <a:srgbClr val="EFB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81D35"/>
                </a:solidFill>
                <a:latin typeface="Aptos"/>
              </a:defRPr>
            </a:pPr>
            <a:r>
              <a:rPr lang="pt-BR" dirty="0"/>
              <a:t>À Confirmar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2B9A8B3-8E4B-D83B-EDED-AF9476AB0449}"/>
              </a:ext>
            </a:extLst>
          </p:cNvPr>
          <p:cNvSpPr txBox="1"/>
          <p:nvPr/>
        </p:nvSpPr>
        <p:spPr>
          <a:xfrm>
            <a:off x="6419088" y="3913632"/>
            <a:ext cx="23317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Aptos"/>
              </a:defRPr>
            </a:pPr>
            <a:r>
              <a:t>• Levantar processo operacional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Aptos"/>
              </a:defRPr>
            </a:pPr>
            <a:r>
              <a:t>• Revisar o que já existe no AAP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Aptos"/>
              </a:defRPr>
            </a:pPr>
            <a:r>
              <a:t>• Definir gaps e melhorias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Aptos"/>
              </a:defRPr>
            </a:pPr>
            <a:r>
              <a:t>• Evoluir / estabilizar</a:t>
            </a:r>
          </a:p>
        </p:txBody>
      </p:sp>
      <p:sp>
        <p:nvSpPr>
          <p:cNvPr id="54" name="Rounded Rectangle 22">
            <a:extLst>
              <a:ext uri="{FF2B5EF4-FFF2-40B4-BE49-F238E27FC236}">
                <a16:creationId xmlns:a16="http://schemas.microsoft.com/office/drawing/2014/main" id="{B0595B4E-6471-B829-9DFD-C90001972DD7}"/>
              </a:ext>
            </a:extLst>
          </p:cNvPr>
          <p:cNvSpPr/>
          <p:nvPr/>
        </p:nvSpPr>
        <p:spPr>
          <a:xfrm>
            <a:off x="9162288" y="1627632"/>
            <a:ext cx="2697480" cy="4526280"/>
          </a:xfrm>
          <a:prstGeom prst="roundRect">
            <a:avLst/>
          </a:prstGeom>
          <a:solidFill>
            <a:srgbClr val="113150"/>
          </a:solidFill>
          <a:ln w="19050">
            <a:solidFill>
              <a:srgbClr val="4EB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7C86CA-275D-E568-7649-2A2A69B2C928}"/>
              </a:ext>
            </a:extLst>
          </p:cNvPr>
          <p:cNvSpPr txBox="1"/>
          <p:nvPr/>
        </p:nvSpPr>
        <p:spPr>
          <a:xfrm>
            <a:off x="9326880" y="1837944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4EB089"/>
                </a:solidFill>
                <a:latin typeface="Aptos"/>
              </a:defRPr>
            </a:pPr>
            <a:r>
              <a:t>SPRINT 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1CCBBDC-41E3-E765-B72A-766118D65CF5}"/>
              </a:ext>
            </a:extLst>
          </p:cNvPr>
          <p:cNvSpPr txBox="1"/>
          <p:nvPr/>
        </p:nvSpPr>
        <p:spPr>
          <a:xfrm>
            <a:off x="9326880" y="2148840"/>
            <a:ext cx="2359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EBECF"/>
                </a:solidFill>
                <a:latin typeface="Aptos"/>
              </a:defRPr>
            </a:pPr>
            <a:r>
              <a:t>07/12 – 25/12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26ECE65-C720-FEAF-553E-2588895E8232}"/>
              </a:ext>
            </a:extLst>
          </p:cNvPr>
          <p:cNvSpPr txBox="1"/>
          <p:nvPr/>
        </p:nvSpPr>
        <p:spPr>
          <a:xfrm>
            <a:off x="9544654" y="2542032"/>
            <a:ext cx="1923605" cy="569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50" b="1">
                <a:solidFill>
                  <a:srgbClr val="F8FAFC"/>
                </a:solidFill>
                <a:latin typeface="Aptos Display"/>
              </a:defRPr>
            </a:pPr>
            <a:r>
              <a:rPr dirty="0"/>
              <a:t>Equipment Down </a:t>
            </a:r>
            <a:r>
              <a:rPr lang="pt-BR" dirty="0"/>
              <a:t>ou</a:t>
            </a:r>
            <a:r>
              <a:rPr dirty="0"/>
              <a:t> </a:t>
            </a:r>
            <a:endParaRPr lang="pt-BR" dirty="0"/>
          </a:p>
          <a:p>
            <a:pPr algn="ctr">
              <a:defRPr sz="1550" b="1">
                <a:solidFill>
                  <a:srgbClr val="F8FAFC"/>
                </a:solidFill>
                <a:latin typeface="Aptos Display"/>
              </a:defRPr>
            </a:pPr>
            <a:r>
              <a:rPr dirty="0"/>
              <a:t>Uptime Reset</a:t>
            </a:r>
          </a:p>
        </p:txBody>
      </p:sp>
      <p:sp>
        <p:nvSpPr>
          <p:cNvPr id="62" name="Rounded Rectangle 26">
            <a:extLst>
              <a:ext uri="{FF2B5EF4-FFF2-40B4-BE49-F238E27FC236}">
                <a16:creationId xmlns:a16="http://schemas.microsoft.com/office/drawing/2014/main" id="{CCD3AFE1-1BF9-AA03-48A8-59A97AA45CD7}"/>
              </a:ext>
            </a:extLst>
          </p:cNvPr>
          <p:cNvSpPr/>
          <p:nvPr/>
        </p:nvSpPr>
        <p:spPr>
          <a:xfrm>
            <a:off x="9523476" y="3328416"/>
            <a:ext cx="1965960" cy="347472"/>
          </a:xfrm>
          <a:prstGeom prst="roundRect">
            <a:avLst/>
          </a:prstGeom>
          <a:solidFill>
            <a:srgbClr val="4EB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81D35"/>
                </a:solidFill>
                <a:latin typeface="Aptos"/>
              </a:defRPr>
            </a:pPr>
            <a:r>
              <a:rPr lang="pt-BR" dirty="0"/>
              <a:t>À Confirmar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3336DF-0A33-C1C0-488E-1B84C9B535D5}"/>
              </a:ext>
            </a:extLst>
          </p:cNvPr>
          <p:cNvSpPr txBox="1"/>
          <p:nvPr/>
        </p:nvSpPr>
        <p:spPr>
          <a:xfrm>
            <a:off x="9326880" y="3913632"/>
            <a:ext cx="23317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Aptos"/>
              </a:defRPr>
            </a:pPr>
            <a:r>
              <a:t>• Priorizar com Telecom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Aptos"/>
              </a:defRPr>
            </a:pPr>
            <a:r>
              <a:t>• Considerar volume e impacto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Aptos"/>
              </a:defRPr>
            </a:pPr>
            <a:r>
              <a:t>• Discovery + implementação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Aptos"/>
              </a:defRPr>
            </a:pPr>
            <a:r>
              <a:t>• Fechamento da R4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C7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18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Sprint 1 | BADLINK WAN como foco principal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32104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EBECF"/>
                </a:solidFill>
                <a:latin typeface="Aptos"/>
              </a:defRPr>
            </a:pPr>
            <a:r>
              <a:t>Primeiro passo: entender o processamento atual e construir no AAP sem assumir que o fluxo LAN será replicado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325880" cy="804672"/>
          </a:xfrm>
          <a:prstGeom prst="roundRect">
            <a:avLst/>
          </a:prstGeom>
          <a:solidFill>
            <a:srgbClr val="163B5E"/>
          </a:solidFill>
          <a:ln>
            <a:solidFill>
              <a:srgbClr val="EC7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Evento</a:t>
            </a:r>
            <a:br/>
            <a:r>
              <a:t>BADLINK WAN</a:t>
            </a:r>
          </a:p>
        </p:txBody>
      </p:sp>
      <p:sp>
        <p:nvSpPr>
          <p:cNvPr id="6" name="Chevron 5"/>
          <p:cNvSpPr/>
          <p:nvPr/>
        </p:nvSpPr>
        <p:spPr>
          <a:xfrm>
            <a:off x="1856232" y="1847088"/>
            <a:ext cx="228600" cy="292608"/>
          </a:xfrm>
          <a:prstGeom prst="chevron">
            <a:avLst/>
          </a:prstGeom>
          <a:solidFill>
            <a:srgbClr val="AE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130552" y="1600200"/>
            <a:ext cx="1325880" cy="804672"/>
          </a:xfrm>
          <a:prstGeom prst="roundRect">
            <a:avLst/>
          </a:prstGeom>
          <a:solidFill>
            <a:srgbClr val="163B5E"/>
          </a:solidFill>
          <a:ln>
            <a:solidFill>
              <a:srgbClr val="23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Discovery</a:t>
            </a:r>
            <a:br/>
            <a:r>
              <a:t>AS-IS</a:t>
            </a:r>
          </a:p>
        </p:txBody>
      </p:sp>
      <p:sp>
        <p:nvSpPr>
          <p:cNvPr id="8" name="Chevron 7"/>
          <p:cNvSpPr/>
          <p:nvPr/>
        </p:nvSpPr>
        <p:spPr>
          <a:xfrm>
            <a:off x="3483864" y="1847088"/>
            <a:ext cx="228600" cy="292608"/>
          </a:xfrm>
          <a:prstGeom prst="chevron">
            <a:avLst/>
          </a:prstGeom>
          <a:solidFill>
            <a:srgbClr val="AE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58184" y="1600200"/>
            <a:ext cx="1325880" cy="804672"/>
          </a:xfrm>
          <a:prstGeom prst="roundRect">
            <a:avLst/>
          </a:prstGeom>
          <a:solidFill>
            <a:srgbClr val="163B5E"/>
          </a:solidFill>
          <a:ln>
            <a:solidFill>
              <a:srgbClr val="23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Regras +</a:t>
            </a:r>
            <a:br/>
            <a:r>
              <a:t>dependências</a:t>
            </a:r>
          </a:p>
        </p:txBody>
      </p:sp>
      <p:sp>
        <p:nvSpPr>
          <p:cNvPr id="10" name="Chevron 9"/>
          <p:cNvSpPr/>
          <p:nvPr/>
        </p:nvSpPr>
        <p:spPr>
          <a:xfrm>
            <a:off x="5111496" y="1847088"/>
            <a:ext cx="228600" cy="292608"/>
          </a:xfrm>
          <a:prstGeom prst="chevron">
            <a:avLst/>
          </a:prstGeom>
          <a:solidFill>
            <a:srgbClr val="AE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385816" y="1600200"/>
            <a:ext cx="1325880" cy="804672"/>
          </a:xfrm>
          <a:prstGeom prst="roundRect">
            <a:avLst/>
          </a:prstGeom>
          <a:solidFill>
            <a:srgbClr val="163B5E"/>
          </a:solidFill>
          <a:ln>
            <a:solidFill>
              <a:srgbClr val="EC7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Arquitetura</a:t>
            </a:r>
            <a:br/>
            <a:r>
              <a:t>AAP</a:t>
            </a:r>
          </a:p>
        </p:txBody>
      </p:sp>
      <p:sp>
        <p:nvSpPr>
          <p:cNvPr id="12" name="Chevron 11"/>
          <p:cNvSpPr/>
          <p:nvPr/>
        </p:nvSpPr>
        <p:spPr>
          <a:xfrm>
            <a:off x="6739127" y="1847088"/>
            <a:ext cx="228600" cy="292608"/>
          </a:xfrm>
          <a:prstGeom prst="chevron">
            <a:avLst/>
          </a:prstGeom>
          <a:solidFill>
            <a:srgbClr val="AE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013448" y="1600200"/>
            <a:ext cx="1325880" cy="804672"/>
          </a:xfrm>
          <a:prstGeom prst="roundRect">
            <a:avLst/>
          </a:prstGeom>
          <a:solidFill>
            <a:srgbClr val="163B5E"/>
          </a:solidFill>
          <a:ln>
            <a:solidFill>
              <a:srgbClr val="EC7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Implementação</a:t>
            </a:r>
          </a:p>
        </p:txBody>
      </p:sp>
      <p:sp>
        <p:nvSpPr>
          <p:cNvPr id="14" name="Chevron 13"/>
          <p:cNvSpPr/>
          <p:nvPr/>
        </p:nvSpPr>
        <p:spPr>
          <a:xfrm>
            <a:off x="8366760" y="1847088"/>
            <a:ext cx="228600" cy="292608"/>
          </a:xfrm>
          <a:prstGeom prst="chevron">
            <a:avLst/>
          </a:prstGeom>
          <a:solidFill>
            <a:srgbClr val="AE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641080" y="1600200"/>
            <a:ext cx="1325880" cy="804672"/>
          </a:xfrm>
          <a:prstGeom prst="roundRect">
            <a:avLst/>
          </a:prstGeom>
          <a:solidFill>
            <a:srgbClr val="163B5E"/>
          </a:solidFill>
          <a:ln>
            <a:solidFill>
              <a:srgbClr val="23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Testes</a:t>
            </a:r>
            <a:br/>
            <a:r>
              <a:t>E2E</a:t>
            </a:r>
          </a:p>
        </p:txBody>
      </p:sp>
      <p:sp>
        <p:nvSpPr>
          <p:cNvPr id="16" name="Chevron 15"/>
          <p:cNvSpPr/>
          <p:nvPr/>
        </p:nvSpPr>
        <p:spPr>
          <a:xfrm>
            <a:off x="9994392" y="1847088"/>
            <a:ext cx="228600" cy="292608"/>
          </a:xfrm>
          <a:prstGeom prst="chevron">
            <a:avLst/>
          </a:prstGeom>
          <a:solidFill>
            <a:srgbClr val="AE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68712" y="1600200"/>
            <a:ext cx="1325880" cy="804672"/>
          </a:xfrm>
          <a:prstGeom prst="roundRect">
            <a:avLst/>
          </a:prstGeom>
          <a:solidFill>
            <a:srgbClr val="163B5E"/>
          </a:solidFill>
          <a:ln>
            <a:solidFill>
              <a:srgbClr val="23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ServiceNow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191256"/>
            <a:ext cx="3429000" cy="2423160"/>
          </a:xfrm>
          <a:prstGeom prst="roundRect">
            <a:avLst/>
          </a:prstGeom>
          <a:solidFill>
            <a:srgbClr val="113150"/>
          </a:solidFill>
          <a:ln w="15240">
            <a:solidFill>
              <a:srgbClr val="EC7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34670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ptos Display"/>
              </a:defRPr>
            </a:pPr>
            <a:r>
              <a:t>O que precisamos descobrir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848835"/>
            <a:ext cx="3428999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ptos"/>
              </a:defRPr>
            </a:pPr>
            <a:r>
              <a:rPr dirty="0"/>
              <a:t>• Como WAN é </a:t>
            </a:r>
            <a:r>
              <a:rPr dirty="0" err="1"/>
              <a:t>tratado</a:t>
            </a:r>
            <a:r>
              <a:rPr dirty="0"/>
              <a:t> </a:t>
            </a:r>
            <a:r>
              <a:rPr dirty="0" err="1"/>
              <a:t>hoje</a:t>
            </a:r>
            <a:r>
              <a:rPr dirty="0"/>
              <a:t> pela </a:t>
            </a:r>
            <a:r>
              <a:rPr dirty="0" err="1"/>
              <a:t>operação</a:t>
            </a:r>
            <a:endParaRPr dirty="0"/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ptos"/>
              </a:defRPr>
            </a:pPr>
            <a:r>
              <a:rPr dirty="0"/>
              <a:t>• Entradas, </a:t>
            </a:r>
            <a:r>
              <a:rPr dirty="0" err="1"/>
              <a:t>comandos</a:t>
            </a:r>
            <a:r>
              <a:rPr dirty="0"/>
              <a:t>, </a:t>
            </a:r>
            <a:r>
              <a:rPr dirty="0" err="1"/>
              <a:t>decisões</a:t>
            </a:r>
            <a:r>
              <a:rPr dirty="0"/>
              <a:t> e </a:t>
            </a:r>
            <a:r>
              <a:rPr dirty="0" err="1"/>
              <a:t>exceções</a:t>
            </a:r>
            <a:endParaRPr dirty="0"/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Dependências</a:t>
            </a:r>
            <a:r>
              <a:rPr dirty="0"/>
              <a:t> com ServiceNow / Flow Designer / One Click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ptos"/>
              </a:defRPr>
            </a:pPr>
            <a:r>
              <a:rPr dirty="0"/>
              <a:t>• Fabricantes e </a:t>
            </a:r>
            <a:r>
              <a:rPr dirty="0" err="1"/>
              <a:t>cenários</a:t>
            </a:r>
            <a:r>
              <a:rPr dirty="0"/>
              <a:t> do </a:t>
            </a:r>
            <a:r>
              <a:rPr dirty="0" err="1"/>
              <a:t>primeiro</a:t>
            </a:r>
            <a:r>
              <a:rPr dirty="0"/>
              <a:t> </a:t>
            </a:r>
            <a:r>
              <a:rPr dirty="0" err="1"/>
              <a:t>escopo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4389120" y="3191256"/>
            <a:ext cx="3429000" cy="2423160"/>
          </a:xfrm>
          <a:prstGeom prst="roundRect">
            <a:avLst/>
          </a:prstGeom>
          <a:solidFill>
            <a:srgbClr val="113150"/>
          </a:solidFill>
          <a:ln w="15240">
            <a:solidFill>
              <a:srgbClr val="23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334670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ptos Display"/>
              </a:defRPr>
            </a:pPr>
            <a:r>
              <a:t>O que vamos reaproveitar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848834"/>
            <a:ext cx="3154680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Consultar</a:t>
            </a:r>
            <a:r>
              <a:rPr dirty="0"/>
              <a:t> </a:t>
            </a:r>
            <a:r>
              <a:rPr dirty="0" err="1"/>
              <a:t>componentes</a:t>
            </a:r>
            <a:r>
              <a:rPr dirty="0"/>
              <a:t> e </a:t>
            </a:r>
            <a:r>
              <a:rPr dirty="0" err="1"/>
              <a:t>contratos</a:t>
            </a:r>
            <a:r>
              <a:rPr dirty="0"/>
              <a:t>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criados</a:t>
            </a:r>
            <a:r>
              <a:rPr dirty="0"/>
              <a:t> no LAN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Inventário</a:t>
            </a:r>
            <a:r>
              <a:rPr dirty="0"/>
              <a:t>/</a:t>
            </a:r>
            <a:r>
              <a:rPr dirty="0" err="1"/>
              <a:t>conectividade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aplicável</a:t>
            </a:r>
            <a:endParaRPr dirty="0"/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Padrões</a:t>
            </a:r>
            <a:r>
              <a:rPr dirty="0"/>
              <a:t> de </a:t>
            </a:r>
            <a:r>
              <a:rPr dirty="0" err="1"/>
              <a:t>falha</a:t>
            </a:r>
            <a:r>
              <a:rPr dirty="0"/>
              <a:t>, </a:t>
            </a:r>
            <a:r>
              <a:rPr dirty="0" err="1"/>
              <a:t>decisão</a:t>
            </a:r>
            <a:r>
              <a:rPr dirty="0"/>
              <a:t> e </a:t>
            </a:r>
            <a:r>
              <a:rPr dirty="0" err="1"/>
              <a:t>retorno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SNOW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Reutilizar</a:t>
            </a:r>
            <a:r>
              <a:rPr dirty="0"/>
              <a:t> </a:t>
            </a:r>
            <a:r>
              <a:rPr dirty="0" err="1"/>
              <a:t>somente</a:t>
            </a:r>
            <a:r>
              <a:rPr dirty="0"/>
              <a:t>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fizer</a:t>
            </a:r>
            <a:r>
              <a:rPr dirty="0"/>
              <a:t> </a:t>
            </a:r>
            <a:r>
              <a:rPr dirty="0" err="1"/>
              <a:t>sentido</a:t>
            </a:r>
            <a:r>
              <a:rPr dirty="0"/>
              <a:t> </a:t>
            </a:r>
            <a:r>
              <a:rPr dirty="0" err="1"/>
              <a:t>tecnicamente</a:t>
            </a:r>
            <a:endParaRPr dirty="0"/>
          </a:p>
        </p:txBody>
      </p:sp>
      <p:sp>
        <p:nvSpPr>
          <p:cNvPr id="24" name="Rounded Rectangle 23"/>
          <p:cNvSpPr/>
          <p:nvPr/>
        </p:nvSpPr>
        <p:spPr>
          <a:xfrm>
            <a:off x="8092440" y="3191256"/>
            <a:ext cx="3429000" cy="2423160"/>
          </a:xfrm>
          <a:prstGeom prst="roundRect">
            <a:avLst/>
          </a:prstGeom>
          <a:solidFill>
            <a:srgbClr val="113150"/>
          </a:solidFill>
          <a:ln w="15240">
            <a:solidFill>
              <a:srgbClr val="4EB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19" y="334670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ptos Display"/>
              </a:defRPr>
            </a:pPr>
            <a:r>
              <a:t>Resultado esperado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2646" y="3848835"/>
            <a:ext cx="3148585" cy="1079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ptos"/>
              </a:defRPr>
            </a:pPr>
            <a:r>
              <a:rPr dirty="0"/>
              <a:t>• Workflow WAN </a:t>
            </a:r>
            <a:r>
              <a:rPr dirty="0" err="1"/>
              <a:t>independente</a:t>
            </a:r>
            <a:r>
              <a:rPr dirty="0"/>
              <a:t> no AAP</a:t>
            </a:r>
            <a:endParaRPr lang="pt-BR" dirty="0"/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ptos"/>
              </a:defRPr>
            </a:pPr>
            <a:r>
              <a:rPr lang="pt-BR" dirty="0"/>
              <a:t>• Fluxo completo automatizado</a:t>
            </a:r>
            <a:endParaRPr dirty="0"/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Fluxo</a:t>
            </a:r>
            <a:r>
              <a:rPr dirty="0"/>
              <a:t> </a:t>
            </a:r>
            <a:r>
              <a:rPr dirty="0" err="1"/>
              <a:t>rastreável</a:t>
            </a:r>
            <a:r>
              <a:rPr dirty="0"/>
              <a:t> e </a:t>
            </a:r>
            <a:r>
              <a:rPr dirty="0" err="1"/>
              <a:t>testável</a:t>
            </a:r>
            <a:endParaRPr dirty="0"/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Contrato</a:t>
            </a:r>
            <a:r>
              <a:rPr dirty="0"/>
              <a:t> claro entre </a:t>
            </a:r>
            <a:r>
              <a:rPr dirty="0" err="1"/>
              <a:t>os</a:t>
            </a:r>
            <a:r>
              <a:rPr dirty="0"/>
              <a:t> JTs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ptos"/>
              </a:defRPr>
            </a:pPr>
            <a:r>
              <a:rPr dirty="0"/>
              <a:t>• Base para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próximos</a:t>
            </a:r>
            <a:r>
              <a:rPr dirty="0"/>
              <a:t> </a:t>
            </a:r>
            <a:r>
              <a:rPr dirty="0" err="1"/>
              <a:t>filhos</a:t>
            </a:r>
            <a:r>
              <a:rPr dirty="0"/>
              <a:t> de Links com </a:t>
            </a:r>
            <a:r>
              <a:rPr dirty="0" err="1"/>
              <a:t>Falhas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585216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EBECF"/>
                </a:solidFill>
                <a:latin typeface="Aptos"/>
              </a:defRPr>
            </a:pPr>
            <a:r>
              <a:t>R4 Telecom • Planejamento para alinhamento em 08/10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C7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18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BADLINK LAN | O que já evoluímos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32104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EBECF"/>
                </a:solidFill>
                <a:latin typeface="Aptos"/>
              </a:defRPr>
            </a:pPr>
            <a:r>
              <a:t>Refactor pontual para melhorar previsibilidade do workflow sem tirar o foco do WAN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91056"/>
            <a:ext cx="1572768" cy="1143000"/>
          </a:xfrm>
          <a:prstGeom prst="roundRect">
            <a:avLst/>
          </a:prstGeom>
          <a:solidFill>
            <a:srgbClr val="163B5E"/>
          </a:solidFill>
          <a:ln w="16510">
            <a:solidFill>
              <a:srgbClr val="4EB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8FAFC"/>
                </a:solidFill>
                <a:latin typeface="Aptos"/>
              </a:defRPr>
            </a:pPr>
            <a:r>
              <a:rPr dirty="0"/>
              <a:t>Consulta</a:t>
            </a:r>
            <a:br>
              <a:rPr dirty="0"/>
            </a:br>
            <a:r>
              <a:rPr dirty="0" err="1"/>
              <a:t>ItaúMon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49224" y="2386584"/>
            <a:ext cx="1280160" cy="256032"/>
          </a:xfrm>
          <a:prstGeom prst="roundRect">
            <a:avLst/>
          </a:prstGeom>
          <a:solidFill>
            <a:srgbClr val="4EB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81D35"/>
                </a:solidFill>
                <a:latin typeface="Aptos"/>
              </a:defRPr>
            </a:pPr>
            <a:r>
              <a:rPr dirty="0"/>
              <a:t>REFATORADO</a:t>
            </a:r>
          </a:p>
        </p:txBody>
      </p:sp>
      <p:sp>
        <p:nvSpPr>
          <p:cNvPr id="7" name="Chevron 6"/>
          <p:cNvSpPr/>
          <p:nvPr/>
        </p:nvSpPr>
        <p:spPr>
          <a:xfrm>
            <a:off x="2121408" y="1938528"/>
            <a:ext cx="228600" cy="274320"/>
          </a:xfrm>
          <a:prstGeom prst="chevron">
            <a:avLst/>
          </a:prstGeom>
          <a:solidFill>
            <a:srgbClr val="AE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377439" y="1591056"/>
            <a:ext cx="1572768" cy="1143000"/>
          </a:xfrm>
          <a:prstGeom prst="roundRect">
            <a:avLst/>
          </a:prstGeom>
          <a:solidFill>
            <a:srgbClr val="163B5E"/>
          </a:solidFill>
          <a:ln w="16510">
            <a:solidFill>
              <a:srgbClr val="4EB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8FAFC"/>
                </a:solidFill>
                <a:latin typeface="Aptos"/>
              </a:defRPr>
            </a:pPr>
            <a:r>
              <a:rPr dirty="0" err="1"/>
              <a:t>Elegibilidade</a:t>
            </a:r>
            <a:br>
              <a:rPr dirty="0"/>
            </a:br>
            <a:r>
              <a:rPr dirty="0"/>
              <a:t>LAN/WAN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3744" y="2386584"/>
            <a:ext cx="1280160" cy="256032"/>
          </a:xfrm>
          <a:prstGeom prst="roundRect">
            <a:avLst/>
          </a:prstGeom>
          <a:solidFill>
            <a:srgbClr val="4EB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81D35"/>
                </a:solidFill>
                <a:latin typeface="Aptos"/>
              </a:defRPr>
            </a:pPr>
            <a:r>
              <a:rPr dirty="0"/>
              <a:t>REFATORADO</a:t>
            </a:r>
          </a:p>
        </p:txBody>
      </p:sp>
      <p:sp>
        <p:nvSpPr>
          <p:cNvPr id="10" name="Chevron 9"/>
          <p:cNvSpPr/>
          <p:nvPr/>
        </p:nvSpPr>
        <p:spPr>
          <a:xfrm>
            <a:off x="3995927" y="1938528"/>
            <a:ext cx="228600" cy="274320"/>
          </a:xfrm>
          <a:prstGeom prst="chevron">
            <a:avLst/>
          </a:prstGeom>
          <a:solidFill>
            <a:srgbClr val="AE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51959" y="1591056"/>
            <a:ext cx="1572768" cy="1143000"/>
          </a:xfrm>
          <a:prstGeom prst="roundRect">
            <a:avLst/>
          </a:prstGeom>
          <a:solidFill>
            <a:srgbClr val="163B5E"/>
          </a:solidFill>
          <a:ln w="16510">
            <a:solidFill>
              <a:srgbClr val="23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8FAFC"/>
                </a:solidFill>
                <a:latin typeface="Aptos"/>
              </a:defRPr>
            </a:pPr>
            <a:r>
              <a:rPr dirty="0" err="1"/>
              <a:t>Identificação</a:t>
            </a:r>
            <a:r>
              <a:rPr dirty="0"/>
              <a:t> /</a:t>
            </a:r>
            <a:br>
              <a:rPr dirty="0"/>
            </a:br>
            <a:r>
              <a:rPr dirty="0" err="1"/>
              <a:t>inventário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4398264" y="2386584"/>
            <a:ext cx="1280160" cy="256032"/>
          </a:xfrm>
          <a:prstGeom prst="roundRect">
            <a:avLst/>
          </a:prstGeom>
          <a:solidFill>
            <a:srgbClr val="236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81D35"/>
                </a:solidFill>
                <a:latin typeface="Aptos"/>
              </a:defRPr>
            </a:pPr>
            <a:r>
              <a:t>REVISAR</a:t>
            </a:r>
          </a:p>
        </p:txBody>
      </p:sp>
      <p:sp>
        <p:nvSpPr>
          <p:cNvPr id="13" name="Chevron 12"/>
          <p:cNvSpPr/>
          <p:nvPr/>
        </p:nvSpPr>
        <p:spPr>
          <a:xfrm>
            <a:off x="5870448" y="1938528"/>
            <a:ext cx="228600" cy="274320"/>
          </a:xfrm>
          <a:prstGeom prst="chevron">
            <a:avLst/>
          </a:prstGeom>
          <a:solidFill>
            <a:srgbClr val="AE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6479" y="1591056"/>
            <a:ext cx="1572768" cy="1143000"/>
          </a:xfrm>
          <a:prstGeom prst="roundRect">
            <a:avLst/>
          </a:prstGeom>
          <a:solidFill>
            <a:srgbClr val="163B5E"/>
          </a:solidFill>
          <a:ln w="16510">
            <a:solidFill>
              <a:srgbClr val="23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8FAFC"/>
                </a:solidFill>
                <a:latin typeface="Aptos"/>
              </a:defRPr>
            </a:pPr>
            <a:r>
              <a:rPr dirty="0" err="1"/>
              <a:t>Diagnóstico</a:t>
            </a:r>
            <a:br>
              <a:rPr dirty="0"/>
            </a:br>
            <a:r>
              <a:rPr dirty="0"/>
              <a:t>interface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3" y="2386584"/>
            <a:ext cx="1280160" cy="256032"/>
          </a:xfrm>
          <a:prstGeom prst="roundRect">
            <a:avLst/>
          </a:prstGeom>
          <a:solidFill>
            <a:srgbClr val="236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81D35"/>
                </a:solidFill>
                <a:latin typeface="Aptos"/>
              </a:defRPr>
            </a:pPr>
            <a:r>
              <a:t>REVISAR</a:t>
            </a:r>
          </a:p>
        </p:txBody>
      </p:sp>
      <p:sp>
        <p:nvSpPr>
          <p:cNvPr id="16" name="Chevron 15"/>
          <p:cNvSpPr/>
          <p:nvPr/>
        </p:nvSpPr>
        <p:spPr>
          <a:xfrm>
            <a:off x="7744967" y="1938528"/>
            <a:ext cx="228600" cy="274320"/>
          </a:xfrm>
          <a:prstGeom prst="chevron">
            <a:avLst/>
          </a:prstGeom>
          <a:solidFill>
            <a:srgbClr val="AE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01000" y="1591056"/>
            <a:ext cx="1572768" cy="1143000"/>
          </a:xfrm>
          <a:prstGeom prst="roundRect">
            <a:avLst/>
          </a:prstGeom>
          <a:solidFill>
            <a:srgbClr val="163B5E"/>
          </a:solidFill>
          <a:ln w="16510">
            <a:solidFill>
              <a:srgbClr val="EC7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8FAFC"/>
                </a:solidFill>
                <a:latin typeface="Aptos"/>
              </a:defRPr>
            </a:pPr>
            <a:r>
              <a:t>Classificação /</a:t>
            </a:r>
            <a:br/>
            <a:r>
              <a:t>decisão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2386584"/>
            <a:ext cx="1280160" cy="256032"/>
          </a:xfrm>
          <a:prstGeom prst="roundRect">
            <a:avLst/>
          </a:prstGeom>
          <a:solidFill>
            <a:srgbClr val="EC7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81D35"/>
                </a:solidFill>
                <a:latin typeface="Aptos"/>
              </a:defRPr>
            </a:pPr>
            <a:r>
              <a:t>MELHORAR I/O</a:t>
            </a:r>
          </a:p>
        </p:txBody>
      </p:sp>
      <p:sp>
        <p:nvSpPr>
          <p:cNvPr id="19" name="Chevron 18"/>
          <p:cNvSpPr/>
          <p:nvPr/>
        </p:nvSpPr>
        <p:spPr>
          <a:xfrm>
            <a:off x="9619488" y="1938528"/>
            <a:ext cx="228600" cy="274320"/>
          </a:xfrm>
          <a:prstGeom prst="chevron">
            <a:avLst/>
          </a:prstGeom>
          <a:solidFill>
            <a:srgbClr val="AE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875520" y="1591056"/>
            <a:ext cx="1572768" cy="1143000"/>
          </a:xfrm>
          <a:prstGeom prst="roundRect">
            <a:avLst/>
          </a:prstGeom>
          <a:solidFill>
            <a:srgbClr val="163B5E"/>
          </a:solidFill>
          <a:ln w="16510">
            <a:solidFill>
              <a:srgbClr val="EC7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8FAFC"/>
                </a:solidFill>
                <a:latin typeface="Aptos"/>
              </a:defRPr>
            </a:pPr>
            <a:r>
              <a:rPr dirty="0" err="1"/>
              <a:t>Retorno</a:t>
            </a:r>
            <a:br>
              <a:rPr dirty="0"/>
            </a:br>
            <a:r>
              <a:rPr dirty="0"/>
              <a:t>ServiceNow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21824" y="2386584"/>
            <a:ext cx="1280160" cy="256032"/>
          </a:xfrm>
          <a:prstGeom prst="roundRect">
            <a:avLst/>
          </a:prstGeom>
          <a:solidFill>
            <a:srgbClr val="EC7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81D35"/>
                </a:solidFill>
                <a:latin typeface="Aptos"/>
              </a:defRPr>
            </a:pPr>
            <a:r>
              <a:rPr dirty="0"/>
              <a:t>MELHORAR I/O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82696"/>
            <a:ext cx="5303520" cy="2057400"/>
          </a:xfrm>
          <a:prstGeom prst="roundRect">
            <a:avLst/>
          </a:prstGeom>
          <a:solidFill>
            <a:srgbClr val="113150"/>
          </a:solidFill>
          <a:ln w="15240">
            <a:solidFill>
              <a:srgbClr val="4EB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438144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ptos Display"/>
              </a:defRPr>
            </a:pPr>
            <a:r>
              <a:t>Entregue no refactor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849624"/>
            <a:ext cx="4937759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ptos"/>
              </a:defRPr>
            </a:pPr>
            <a:r>
              <a:rPr dirty="0"/>
              <a:t>• Consulta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ItaúMon</a:t>
            </a:r>
            <a:r>
              <a:rPr dirty="0"/>
              <a:t> </a:t>
            </a:r>
            <a:r>
              <a:rPr dirty="0" err="1"/>
              <a:t>isolada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responsabilidade</a:t>
            </a:r>
            <a:r>
              <a:rPr dirty="0"/>
              <a:t> </a:t>
            </a:r>
            <a:r>
              <a:rPr dirty="0" err="1"/>
              <a:t>própria</a:t>
            </a:r>
            <a:endParaRPr dirty="0"/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Contrato</a:t>
            </a:r>
            <a:r>
              <a:rPr dirty="0"/>
              <a:t> de </a:t>
            </a:r>
            <a:r>
              <a:rPr dirty="0" err="1"/>
              <a:t>retorno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explícito</a:t>
            </a:r>
            <a:endParaRPr dirty="0"/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Classificação</a:t>
            </a:r>
            <a:r>
              <a:rPr dirty="0"/>
              <a:t> LAN/WAN e </a:t>
            </a:r>
            <a:r>
              <a:rPr dirty="0" err="1"/>
              <a:t>elegibilidade</a:t>
            </a:r>
            <a:r>
              <a:rPr dirty="0"/>
              <a:t> </a:t>
            </a:r>
            <a:r>
              <a:rPr dirty="0" err="1"/>
              <a:t>publicadas</a:t>
            </a:r>
            <a:r>
              <a:rPr dirty="0"/>
              <a:t> para downstream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ptos"/>
              </a:defRPr>
            </a:pPr>
            <a:r>
              <a:rPr dirty="0"/>
              <a:t>• Testes </a:t>
            </a:r>
            <a:r>
              <a:rPr dirty="0" err="1"/>
              <a:t>isolados</a:t>
            </a:r>
            <a:r>
              <a:rPr dirty="0"/>
              <a:t> e </a:t>
            </a:r>
            <a:r>
              <a:rPr dirty="0" err="1"/>
              <a:t>dentro</a:t>
            </a:r>
            <a:r>
              <a:rPr dirty="0"/>
              <a:t> do workflow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282696"/>
            <a:ext cx="5212080" cy="2057400"/>
          </a:xfrm>
          <a:prstGeom prst="roundRect">
            <a:avLst/>
          </a:prstGeom>
          <a:solidFill>
            <a:srgbClr val="113150"/>
          </a:solidFill>
          <a:ln w="15240">
            <a:solidFill>
              <a:srgbClr val="EC7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343814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ptos Display"/>
              </a:defRPr>
            </a:pPr>
            <a:r>
              <a:t>Próxima evolução do 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849624"/>
            <a:ext cx="484632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ptos"/>
              </a:defRPr>
            </a:pPr>
            <a:r>
              <a:t>• Padronizar entradas e saídas entre JTs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ptos"/>
              </a:defRPr>
            </a:pPr>
            <a:r>
              <a:t>• Revisar roteamento e tratamento de falhas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ptos"/>
              </a:defRPr>
            </a:pPr>
            <a:r>
              <a:t>• Melhorar observabilidade / troubleshooting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ptos"/>
              </a:defRPr>
            </a:pPr>
            <a:r>
              <a:t>• Avaliar quais componentes podem apoiar o WAN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660136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t>LAN permanece em produção. A proposta é melhorar comportamento e contratos sem consumir a capacidade principal da Sprint 1.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EBECF"/>
                </a:solidFill>
                <a:latin typeface="Aptos"/>
              </a:defRPr>
            </a:pPr>
            <a:r>
              <a:t>R4 Telecom • Planejamento para alinhamento em 08/10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C7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18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Visão de evolução | Links com Falhas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32104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EBECF"/>
                </a:solidFill>
                <a:latin typeface="Aptos"/>
              </a:defRPr>
            </a:pPr>
            <a:r>
              <a:t>BADLINK e OSPF são filhos do mesmo domínio; a R4 também deve aumentar nosso entendimento do incidente pai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325880"/>
            <a:ext cx="3840480" cy="868680"/>
          </a:xfrm>
          <a:prstGeom prst="roundRect">
            <a:avLst/>
          </a:prstGeom>
          <a:solidFill>
            <a:srgbClr val="EC7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D35"/>
                </a:solidFill>
                <a:latin typeface="Aptos Display"/>
              </a:defRPr>
            </a:pPr>
            <a:r>
              <a:t>LINKS COM FALHAS</a:t>
            </a:r>
            <a:br/>
            <a:r>
              <a:t>Incidente pai / visão agregadora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2606040" cy="1143000"/>
          </a:xfrm>
          <a:prstGeom prst="roundRect">
            <a:avLst/>
          </a:prstGeom>
          <a:solidFill>
            <a:srgbClr val="163B5E"/>
          </a:solidFill>
          <a:ln>
            <a:solidFill>
              <a:srgbClr val="23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BADLINK LAN</a:t>
            </a:r>
          </a:p>
          <a:p>
            <a:pPr algn="ctr">
              <a:defRPr sz="900">
                <a:solidFill>
                  <a:srgbClr val="AEBECF"/>
                </a:solidFill>
                <a:latin typeface="Aptos"/>
              </a:defRPr>
            </a:pPr>
            <a:r>
              <a:t>Produção / melhorar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2971800"/>
            <a:ext cx="2606040" cy="1143000"/>
          </a:xfrm>
          <a:prstGeom prst="roundRect">
            <a:avLst/>
          </a:prstGeom>
          <a:solidFill>
            <a:srgbClr val="163B5E"/>
          </a:solidFill>
          <a:ln>
            <a:solidFill>
              <a:srgbClr val="EC7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BADLINK WAN</a:t>
            </a:r>
          </a:p>
          <a:p>
            <a:pPr algn="ctr">
              <a:defRPr sz="900">
                <a:solidFill>
                  <a:srgbClr val="AEBECF"/>
                </a:solidFill>
                <a:latin typeface="Aptos"/>
              </a:defRPr>
            </a:pPr>
            <a:r>
              <a:t>Sprint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18504" y="2971800"/>
            <a:ext cx="2606040" cy="1143000"/>
          </a:xfrm>
          <a:prstGeom prst="roundRect">
            <a:avLst/>
          </a:prstGeom>
          <a:solidFill>
            <a:srgbClr val="163B5E"/>
          </a:solidFill>
          <a:ln>
            <a:solidFill>
              <a:srgbClr val="23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OSPF Neighbor</a:t>
            </a:r>
          </a:p>
          <a:p>
            <a:pPr algn="ctr">
              <a:defRPr sz="900">
                <a:solidFill>
                  <a:srgbClr val="AEBECF"/>
                </a:solidFill>
                <a:latin typeface="Aptos"/>
              </a:defRPr>
            </a:pPr>
            <a:r>
              <a:t>Sprint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26296" y="2971800"/>
            <a:ext cx="2606040" cy="1143000"/>
          </a:xfrm>
          <a:prstGeom prst="roundRect">
            <a:avLst/>
          </a:prstGeom>
          <a:solidFill>
            <a:srgbClr val="163B5E"/>
          </a:solidFill>
          <a:ln>
            <a:solidFill>
              <a:srgbClr val="23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Demais eventos</a:t>
            </a:r>
          </a:p>
          <a:p>
            <a:pPr algn="ctr">
              <a:defRPr sz="900">
                <a:solidFill>
                  <a:srgbClr val="AEBECF"/>
                </a:solidFill>
                <a:latin typeface="Aptos"/>
              </a:defRPr>
            </a:pPr>
            <a:r>
              <a:t>Próximas ondas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4800600"/>
            <a:ext cx="6172200" cy="841248"/>
          </a:xfrm>
          <a:prstGeom prst="roundRect">
            <a:avLst/>
          </a:prstGeom>
          <a:solidFill>
            <a:srgbClr val="113150"/>
          </a:solidFill>
          <a:ln>
            <a:solidFill>
              <a:srgbClr val="4EB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rPr dirty="0"/>
              <a:t>Ponto para discovery: </a:t>
            </a:r>
            <a:r>
              <a:rPr dirty="0" err="1"/>
              <a:t>entender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a </a:t>
            </a:r>
            <a:r>
              <a:rPr dirty="0" err="1"/>
              <a:t>solução</a:t>
            </a:r>
            <a:r>
              <a:rPr dirty="0"/>
              <a:t> One Click </a:t>
            </a:r>
            <a:r>
              <a:rPr dirty="0" err="1"/>
              <a:t>intermedeia</a:t>
            </a:r>
            <a:r>
              <a:rPr dirty="0"/>
              <a:t> / atua </a:t>
            </a:r>
            <a:r>
              <a:rPr dirty="0" err="1"/>
              <a:t>hoje</a:t>
            </a:r>
            <a:r>
              <a:rPr dirty="0"/>
              <a:t> no </a:t>
            </a:r>
            <a:r>
              <a:rPr dirty="0" err="1"/>
              <a:t>incidente</a:t>
            </a:r>
            <a:r>
              <a:rPr dirty="0"/>
              <a:t> pai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978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AEBECF"/>
                </a:solidFill>
                <a:latin typeface="Aptos"/>
              </a:defRPr>
            </a:pPr>
            <a:r>
              <a:t>Objetivo futuro: usar o conhecimento dos filhos para desenhar uma abordagem mais completa para Links com Falhas.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EBECF"/>
                </a:solidFill>
                <a:latin typeface="Aptos"/>
              </a:defRPr>
            </a:pPr>
            <a:r>
              <a:t>R4 Telecom • Planejamento para alinhamento em 08/10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C7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10785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rPr dirty="0"/>
              <a:t>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precisamos</a:t>
            </a:r>
            <a:r>
              <a:rPr dirty="0"/>
              <a:t> </a:t>
            </a:r>
            <a:r>
              <a:rPr dirty="0" err="1"/>
              <a:t>validar</a:t>
            </a:r>
            <a:r>
              <a:rPr dirty="0"/>
              <a:t> </a:t>
            </a:r>
            <a:r>
              <a:rPr lang="pt-BR" dirty="0"/>
              <a:t>hoje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85216" y="832104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EBECF"/>
                </a:solidFill>
                <a:latin typeface="Aptos"/>
              </a:defRPr>
            </a:pPr>
            <a:r>
              <a:t>Sair da reunião com prioridade, regras e dependências claras para iniciar o desenvolvimento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417320"/>
            <a:ext cx="530352" cy="530352"/>
          </a:xfrm>
          <a:prstGeom prst="ellipse">
            <a:avLst/>
          </a:prstGeom>
          <a:solidFill>
            <a:srgbClr val="EC7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1D3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1399032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Aptos Display"/>
              </a:defRPr>
            </a:pPr>
            <a:r>
              <a:t>BADLINK WAN</a:t>
            </a:r>
          </a:p>
          <a:p>
            <a:pPr>
              <a:defRPr sz="980">
                <a:solidFill>
                  <a:srgbClr val="AEBECF"/>
                </a:solidFill>
                <a:latin typeface="Aptos"/>
              </a:defRPr>
            </a:pPr>
            <a:r>
              <a:t>Confirmar fluxo operacional atual, regras, dados, comandos, exceções e dependências.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478024"/>
            <a:ext cx="530352" cy="530352"/>
          </a:xfrm>
          <a:prstGeom prst="ellipse">
            <a:avLst/>
          </a:prstGeom>
          <a:solidFill>
            <a:srgbClr val="EC7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1D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459736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Aptos Display"/>
              </a:defRPr>
            </a:pPr>
            <a:r>
              <a:t>Links com Falhas / One Click</a:t>
            </a:r>
          </a:p>
          <a:p>
            <a:pPr>
              <a:defRPr sz="980">
                <a:solidFill>
                  <a:srgbClr val="AEBECF"/>
                </a:solidFill>
                <a:latin typeface="Aptos"/>
              </a:defRPr>
            </a:pPr>
            <a:r>
              <a:t>Entender a relação do incidente pai com os filhos e como o One Click é usado hoje.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538728"/>
            <a:ext cx="530352" cy="530352"/>
          </a:xfrm>
          <a:prstGeom prst="ellipse">
            <a:avLst/>
          </a:prstGeom>
          <a:solidFill>
            <a:srgbClr val="236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1D3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352044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Aptos Display"/>
              </a:defRPr>
            </a:pPr>
            <a:r>
              <a:t>Sprint 3</a:t>
            </a:r>
          </a:p>
          <a:p>
            <a:pPr>
              <a:defRPr sz="980">
                <a:solidFill>
                  <a:srgbClr val="AEBECF"/>
                </a:solidFill>
                <a:latin typeface="Aptos"/>
              </a:defRPr>
            </a:pPr>
            <a:r>
              <a:t>Validar High CPU/Memory como próxima prioridade após OSPF.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599431"/>
            <a:ext cx="530352" cy="530352"/>
          </a:xfrm>
          <a:prstGeom prst="ellipse">
            <a:avLst/>
          </a:prstGeom>
          <a:solidFill>
            <a:srgbClr val="236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1D3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4581144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Aptos Display"/>
              </a:defRPr>
            </a:pPr>
            <a:r>
              <a:t>Sprint 4</a:t>
            </a:r>
          </a:p>
          <a:p>
            <a:pPr>
              <a:defRPr sz="980">
                <a:solidFill>
                  <a:srgbClr val="AEBECF"/>
                </a:solidFill>
                <a:latin typeface="Aptos"/>
              </a:defRPr>
            </a:pPr>
            <a:r>
              <a:t>Escolher entre Equipment Down, Uptime Reset ou outro caso mais relevante para a operação.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806440"/>
            <a:ext cx="10515600" cy="530352"/>
          </a:xfrm>
          <a:prstGeom prst="roundRect">
            <a:avLst/>
          </a:prstGeom>
          <a:solidFill>
            <a:srgbClr val="163B5E"/>
          </a:solidFill>
          <a:ln>
            <a:solidFill>
              <a:srgbClr val="EC7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8FAFC"/>
                </a:solidFill>
                <a:latin typeface="Aptos"/>
              </a:defRPr>
            </a:pPr>
            <a:r>
              <a:rPr dirty="0"/>
              <a:t>Meta da R4: </a:t>
            </a:r>
            <a:r>
              <a:rPr dirty="0" err="1"/>
              <a:t>até</a:t>
            </a:r>
            <a:r>
              <a:rPr dirty="0"/>
              <a:t> 4 </a:t>
            </a:r>
            <a:r>
              <a:rPr dirty="0" err="1"/>
              <a:t>automações</a:t>
            </a:r>
            <a:r>
              <a:rPr dirty="0"/>
              <a:t>/</a:t>
            </a:r>
            <a:r>
              <a:rPr dirty="0" err="1"/>
              <a:t>evoluções</a:t>
            </a:r>
            <a:r>
              <a:rPr dirty="0"/>
              <a:t> </a:t>
            </a:r>
            <a:r>
              <a:rPr dirty="0" err="1"/>
              <a:t>relevantes</a:t>
            </a:r>
            <a:r>
              <a:rPr dirty="0"/>
              <a:t>, </a:t>
            </a:r>
            <a:r>
              <a:rPr dirty="0" err="1"/>
              <a:t>priorizadas</a:t>
            </a:r>
            <a:r>
              <a:rPr dirty="0"/>
              <a:t> pela </a:t>
            </a:r>
            <a:r>
              <a:rPr dirty="0" err="1"/>
              <a:t>operação</a:t>
            </a:r>
            <a:r>
              <a:rPr dirty="0"/>
              <a:t> </a:t>
            </a:r>
            <a:r>
              <a:rPr lang="pt-BR" dirty="0"/>
              <a:t>-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sacrificar</a:t>
            </a:r>
            <a:r>
              <a:rPr dirty="0"/>
              <a:t> discovery, </a:t>
            </a:r>
            <a:r>
              <a:rPr dirty="0" err="1"/>
              <a:t>qualidade</a:t>
            </a:r>
            <a:r>
              <a:rPr dirty="0"/>
              <a:t> e </a:t>
            </a:r>
            <a:r>
              <a:rPr dirty="0" err="1"/>
              <a:t>validação</a:t>
            </a:r>
            <a:r>
              <a:rPr dirty="0"/>
              <a:t> E2E.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EBECF"/>
                </a:solidFill>
                <a:latin typeface="Aptos"/>
              </a:defRPr>
            </a:pPr>
            <a:r>
              <a:t>R4 Telecom • Planejamento para alinhamento em 08/10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694</Words>
  <Application>Microsoft Office PowerPoint</Application>
  <PresentationFormat>Widescreen</PresentationFormat>
  <Paragraphs>119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Yasmim Duarte</cp:lastModifiedBy>
  <cp:revision>3</cp:revision>
  <dcterms:created xsi:type="dcterms:W3CDTF">2013-01-27T09:14:16Z</dcterms:created>
  <dcterms:modified xsi:type="dcterms:W3CDTF">2026-10-07T21:05:40Z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637e5cc-ed1f-4ad6-a881-35c0f1c6f3d8_Enabled">
    <vt:lpwstr>true</vt:lpwstr>
  </property>
  <property fmtid="{D5CDD505-2E9C-101B-9397-08002B2CF9AE}" pid="3" name="MSIP_Label_4637e5cc-ed1f-4ad6-a881-35c0f1c6f3d8_SetDate">
    <vt:lpwstr>2026-10-07T21:05:05Z</vt:lpwstr>
  </property>
  <property fmtid="{D5CDD505-2E9C-101B-9397-08002B2CF9AE}" pid="4" name="MSIP_Label_4637e5cc-ed1f-4ad6-a881-35c0f1c6f3d8_Method">
    <vt:lpwstr>Standard</vt:lpwstr>
  </property>
  <property fmtid="{D5CDD505-2E9C-101B-9397-08002B2CF9AE}" pid="5" name="MSIP_Label_4637e5cc-ed1f-4ad6-a881-35c0f1c6f3d8_Name">
    <vt:lpwstr>General</vt:lpwstr>
  </property>
  <property fmtid="{D5CDD505-2E9C-101B-9397-08002B2CF9AE}" pid="6" name="MSIP_Label_4637e5cc-ed1f-4ad6-a881-35c0f1c6f3d8_SiteId">
    <vt:lpwstr>e3cf3c98-a978-465f-8254-9d541eeea73c</vt:lpwstr>
  </property>
  <property fmtid="{D5CDD505-2E9C-101B-9397-08002B2CF9AE}" pid="7" name="MSIP_Label_4637e5cc-ed1f-4ad6-a881-35c0f1c6f3d8_ActionId">
    <vt:lpwstr>234226a3-27f3-460c-84d4-0507701e63b5</vt:lpwstr>
  </property>
  <property fmtid="{D5CDD505-2E9C-101B-9397-08002B2CF9AE}" pid="8" name="MSIP_Label_4637e5cc-ed1f-4ad6-a881-35c0f1c6f3d8_ContentBits">
    <vt:lpwstr>2</vt:lpwstr>
  </property>
  <property fmtid="{D5CDD505-2E9C-101B-9397-08002B2CF9AE}" pid="9" name="MSIP_Label_4637e5cc-ed1f-4ad6-a881-35c0f1c6f3d8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Sensitivity Label: General</vt:lpwstr>
  </property>
</Properties>
</file>