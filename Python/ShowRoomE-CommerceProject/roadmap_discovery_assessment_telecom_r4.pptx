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73F"/>
                </a:solidFill>
                <a:latin typeface="Aptos Display"/>
              </a:defRPr>
            </a:pPr>
            <a:r>
              <a:t>R4 Telecom | Discovery &amp; Assessment — BADLINK-LAN e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874"/>
                </a:solidFill>
                <a:latin typeface="Aptos"/>
              </a:defRPr>
            </a:pPr>
            <a:r>
              <a:t>Objetivo: fechar o BADLINK como blueprint end-to-end e aplicar o aprendizado ao segundo maior ofensor antes de escalar o backlog.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719072" cy="1078992"/>
          </a:xfrm>
          <a:prstGeom prst="roundRect">
            <a:avLst/>
          </a:prstGeom>
          <a:solidFill>
            <a:srgbClr val="E0EDF8"/>
          </a:solidFill>
          <a:ln w="16510">
            <a:solidFill>
              <a:srgbClr val="21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200" b="1">
                <a:solidFill>
                  <a:srgbClr val="12273F"/>
                </a:solidFill>
                <a:latin typeface="Aptos"/>
              </a:defRPr>
            </a:pPr>
            <a:r>
              <a:t>1  DISCOVERY</a:t>
            </a:r>
          </a:p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t>Entender operação atual</a:t>
            </a:r>
            <a:br/>
            <a:r>
              <a:t>regras • responsáveis • dor</a:t>
            </a:r>
          </a:p>
        </p:txBody>
      </p:sp>
      <p:sp>
        <p:nvSpPr>
          <p:cNvPr id="5" name="Chevron 4"/>
          <p:cNvSpPr/>
          <p:nvPr/>
        </p:nvSpPr>
        <p:spPr>
          <a:xfrm>
            <a:off x="2244851" y="1655064"/>
            <a:ext cx="237744" cy="347472"/>
          </a:xfrm>
          <a:prstGeom prst="chevron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86584" y="1298448"/>
            <a:ext cx="1719072" cy="1078992"/>
          </a:xfrm>
          <a:prstGeom prst="roundRect">
            <a:avLst/>
          </a:prstGeom>
          <a:solidFill>
            <a:srgbClr val="E0EDF8"/>
          </a:solidFill>
          <a:ln w="16510">
            <a:solidFill>
              <a:srgbClr val="21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200" b="1">
                <a:solidFill>
                  <a:srgbClr val="12273F"/>
                </a:solidFill>
                <a:latin typeface="Aptos"/>
              </a:defRPr>
            </a:pPr>
            <a:r>
              <a:t>2  AS-IS</a:t>
            </a:r>
          </a:p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t>Desenhar fluxo atual</a:t>
            </a:r>
            <a:br/>
            <a:r>
              <a:t>SNOW • AAP • APIs • rede</a:t>
            </a:r>
          </a:p>
        </p:txBody>
      </p:sp>
      <p:sp>
        <p:nvSpPr>
          <p:cNvPr id="7" name="Chevron 6"/>
          <p:cNvSpPr/>
          <p:nvPr/>
        </p:nvSpPr>
        <p:spPr>
          <a:xfrm>
            <a:off x="4128516" y="1655064"/>
            <a:ext cx="237744" cy="347472"/>
          </a:xfrm>
          <a:prstGeom prst="chevron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70248" y="1298448"/>
            <a:ext cx="1719072" cy="1078992"/>
          </a:xfrm>
          <a:prstGeom prst="roundRect">
            <a:avLst/>
          </a:prstGeom>
          <a:solidFill>
            <a:srgbClr val="E0EDF8"/>
          </a:solidFill>
          <a:ln w="16510">
            <a:solidFill>
              <a:srgbClr val="21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200" b="1">
                <a:solidFill>
                  <a:srgbClr val="12273F"/>
                </a:solidFill>
                <a:latin typeface="Aptos"/>
              </a:defRPr>
            </a:pPr>
            <a:r>
              <a:t>3  GAPS</a:t>
            </a:r>
          </a:p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t>Falhas • etapas manuais</a:t>
            </a:r>
            <a:br/>
            <a:r>
              <a:t>latência • duplicidades</a:t>
            </a:r>
          </a:p>
        </p:txBody>
      </p:sp>
      <p:sp>
        <p:nvSpPr>
          <p:cNvPr id="9" name="Chevron 8"/>
          <p:cNvSpPr/>
          <p:nvPr/>
        </p:nvSpPr>
        <p:spPr>
          <a:xfrm>
            <a:off x="6012180" y="1655064"/>
            <a:ext cx="237744" cy="347472"/>
          </a:xfrm>
          <a:prstGeom prst="chevron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1298448"/>
            <a:ext cx="1719072" cy="1078992"/>
          </a:xfrm>
          <a:prstGeom prst="roundRect">
            <a:avLst/>
          </a:prstGeom>
          <a:solidFill>
            <a:srgbClr val="E0EDF8"/>
          </a:solidFill>
          <a:ln w="16510">
            <a:solidFill>
              <a:srgbClr val="21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200" b="1">
                <a:solidFill>
                  <a:srgbClr val="12273F"/>
                </a:solidFill>
                <a:latin typeface="Aptos"/>
              </a:defRPr>
            </a:pPr>
            <a:r>
              <a:t>4  TO-BE</a:t>
            </a:r>
          </a:p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t>Definir arquitetura alvo</a:t>
            </a:r>
            <a:br/>
            <a:r>
              <a:t>manter • integrar • migrar</a:t>
            </a:r>
          </a:p>
        </p:txBody>
      </p:sp>
      <p:sp>
        <p:nvSpPr>
          <p:cNvPr id="11" name="Chevron 10"/>
          <p:cNvSpPr/>
          <p:nvPr/>
        </p:nvSpPr>
        <p:spPr>
          <a:xfrm>
            <a:off x="7895844" y="1655064"/>
            <a:ext cx="237744" cy="347472"/>
          </a:xfrm>
          <a:prstGeom prst="chevron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37576" y="1298448"/>
            <a:ext cx="1719072" cy="1078992"/>
          </a:xfrm>
          <a:prstGeom prst="roundRect">
            <a:avLst/>
          </a:prstGeom>
          <a:solidFill>
            <a:srgbClr val="E2F1EA"/>
          </a:solidFill>
          <a:ln w="16510">
            <a:solidFill>
              <a:srgbClr val="2D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200" b="1">
                <a:solidFill>
                  <a:srgbClr val="2D7A5C"/>
                </a:solidFill>
                <a:latin typeface="Aptos"/>
              </a:defRPr>
            </a:pPr>
            <a:r>
              <a:t>5  BUILD + E2E</a:t>
            </a:r>
          </a:p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t>Refactor / implementação</a:t>
            </a:r>
            <a:br/>
            <a:r>
              <a:t>testes + evidências</a:t>
            </a:r>
          </a:p>
        </p:txBody>
      </p:sp>
      <p:sp>
        <p:nvSpPr>
          <p:cNvPr id="13" name="Chevron 12"/>
          <p:cNvSpPr/>
          <p:nvPr/>
        </p:nvSpPr>
        <p:spPr>
          <a:xfrm>
            <a:off x="9779508" y="1655064"/>
            <a:ext cx="237744" cy="347472"/>
          </a:xfrm>
          <a:prstGeom prst="chevron">
            <a:avLst/>
          </a:prstGeom>
          <a:solidFill>
            <a:srgbClr val="B8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21240" y="1298448"/>
            <a:ext cx="1719072" cy="1078992"/>
          </a:xfrm>
          <a:prstGeom prst="roundRect">
            <a:avLst/>
          </a:prstGeom>
          <a:solidFill>
            <a:srgbClr val="E2F1EA"/>
          </a:solidFill>
          <a:ln w="16510">
            <a:solidFill>
              <a:srgbClr val="2D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200" b="1">
                <a:solidFill>
                  <a:srgbClr val="2D7A5C"/>
                </a:solidFill>
                <a:latin typeface="Aptos"/>
              </a:defRPr>
            </a:pPr>
            <a:r>
              <a:t>6  BLUEPRINT</a:t>
            </a:r>
          </a:p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t>Documentar padrão</a:t>
            </a:r>
            <a:br/>
            <a:r>
              <a:t>medir ganho • reutilizar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2761488"/>
            <a:ext cx="5486400" cy="2999232"/>
          </a:xfrm>
          <a:prstGeom prst="roundRect">
            <a:avLst/>
          </a:prstGeom>
          <a:solidFill>
            <a:srgbClr val="E2F1EA"/>
          </a:solidFill>
          <a:ln w="17780">
            <a:solidFill>
              <a:srgbClr val="2D7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926080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7A5C"/>
                </a:solidFill>
                <a:latin typeface="Aptos Display"/>
              </a:defRPr>
            </a:pPr>
            <a:r>
              <a:t>BADLINK-LAN — fechar o blueprint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3752" y="2898648"/>
            <a:ext cx="914400" cy="320040"/>
          </a:xfrm>
          <a:prstGeom prst="roundRect">
            <a:avLst/>
          </a:prstGeom>
          <a:solidFill>
            <a:srgbClr val="2D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PRIORIDADE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355848"/>
            <a:ext cx="502920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Consolidar consulta ItaúMon e contrato de retorno.</a:t>
            </a:r>
          </a:p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Validar elegibilidade LAN/WAN e impedir roteamento incorreto.</a:t>
            </a:r>
          </a:p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Revisar diagnóstico da interface, classificação e decisão do incidente.</a:t>
            </a:r>
          </a:p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Padronizar falhas: conexão, autenticação, comando, ambiente e diagnóstico.</a:t>
            </a:r>
          </a:p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Validar atualização do ServiceNow, work notes e cenários de encerramento.</a:t>
            </a:r>
          </a:p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Executar testes isolados + E2E e registrar evidências.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34924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A5C"/>
                </a:solidFill>
                <a:latin typeface="Aptos"/>
              </a:defRPr>
            </a:pPr>
            <a:r>
              <a:t>Saída: fluxo referência + padrões reutilizáveis para Telecom.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761488"/>
            <a:ext cx="5468112" cy="2999232"/>
          </a:xfrm>
          <a:prstGeom prst="roundRect">
            <a:avLst/>
          </a:prstGeom>
          <a:solidFill>
            <a:srgbClr val="FAEDDD"/>
          </a:solidFill>
          <a:ln w="17780">
            <a:solidFill>
              <a:srgbClr val="C9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926080"/>
            <a:ext cx="4050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7425"/>
                </a:solidFill>
                <a:latin typeface="Aptos Display"/>
              </a:defRPr>
            </a:pPr>
            <a:r>
              <a:t>OSPF — assessment do 2º maior ofensor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06456" y="2898648"/>
            <a:ext cx="914400" cy="320040"/>
          </a:xfrm>
          <a:prstGeom prst="roundRect">
            <a:avLst/>
          </a:prstGeom>
          <a:solidFill>
            <a:srgbClr val="C9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PRIORIDADE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355848"/>
            <a:ext cx="501091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Mapear automação atual no Flow Designer e responsáveis operacionais.</a:t>
            </a:r>
          </a:p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Identificar gatilho, entradas, decisões, dependências e integrações.</a:t>
            </a:r>
          </a:p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Entender quais resultados são herdados/agrupados em Links com Falha.</a:t>
            </a:r>
          </a:p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Levantar tratamento manual, exceções, tempo médio e principais falhas.</a:t>
            </a:r>
          </a:p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Desenhar AS-IS e comparar com o blueprint criado no BADLINK.</a:t>
            </a:r>
          </a:p>
          <a:p>
            <a:pPr>
              <a:spcAft>
                <a:spcPts val="400"/>
              </a:spcAft>
              <a:defRPr sz="1000">
                <a:solidFill>
                  <a:srgbClr val="232A32"/>
                </a:solidFill>
                <a:latin typeface="Aptos"/>
              </a:defRPr>
            </a:pPr>
            <a:r>
              <a:t>• Definir TO-BE: manter no SNOW, integrar, refatorar ou migrar ao AAP.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5349240"/>
            <a:ext cx="50109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7425"/>
                </a:solidFill>
                <a:latin typeface="Aptos"/>
              </a:defRPr>
            </a:pPr>
            <a:r>
              <a:t>Saída: decisão arquitetural + escopo/estimativa para implementação.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5925312"/>
            <a:ext cx="11119104" cy="566928"/>
          </a:xfrm>
          <a:prstGeom prst="roundRect">
            <a:avLst/>
          </a:prstGeom>
          <a:solidFill>
            <a:srgbClr val="F2F4F7"/>
          </a:solidFill>
          <a:ln>
            <a:solidFill>
              <a:srgbClr val="BE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73F"/>
                </a:solidFill>
                <a:latin typeface="Aptos"/>
              </a:defRPr>
            </a:pPr>
            <a:r>
              <a:t>Gate de priorização: volumetria + tempo manual + impacto + complexidade + dependências + taxa potencial de resolução automática → próximo item do backlog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