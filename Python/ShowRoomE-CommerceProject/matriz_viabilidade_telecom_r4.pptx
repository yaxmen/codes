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67535-D4A6-CF9B-59CD-7D7DCD93A7A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16563" y="6672580"/>
            <a:ext cx="11874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800">
                <a:solidFill>
                  <a:srgbClr val="2E404D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Sensitivity Label: General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02336"/>
            <a:ext cx="77724" cy="667512"/>
          </a:xfrm>
          <a:prstGeom prst="rect">
            <a:avLst/>
          </a:prstGeom>
          <a:solidFill>
            <a:srgbClr val="FF8823"/>
          </a:solidFill>
          <a:ln>
            <a:solidFill>
              <a:srgbClr val="FF8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Aptos"/>
              </a:defRPr>
            </a:pPr>
            <a:r>
              <a:t>Matriz de viabilidade | Candidatos Telecom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418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B0C1D9"/>
                </a:solidFill>
                <a:latin typeface="Aptos"/>
              </a:defRPr>
            </a:pPr>
            <a:r>
              <a:t>Priorizar resolução fim a fim via Ansible — avaliação preliminar, sem notas inventadas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C1D9"/>
                </a:solidFill>
                <a:latin typeface="Aptos"/>
              </a:defRPr>
            </a:pPr>
            <a:r>
              <a:t>TELECOM  •  R4  |  DECISÃO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6480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C1D9"/>
                </a:solidFill>
                <a:latin typeface="Aptos"/>
              </a:defRPr>
            </a:pPr>
            <a:r>
              <a:t>1 /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0894"/>
            <a:ext cx="2176272" cy="466344"/>
          </a:xfrm>
          <a:prstGeom prst="roundRect">
            <a:avLst/>
          </a:prstGeom>
          <a:solidFill>
            <a:srgbClr val="FF8823"/>
          </a:solidFill>
          <a:ln>
            <a:solidFill>
              <a:srgbClr val="FF8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599766"/>
            <a:ext cx="2039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91835"/>
                </a:solidFill>
                <a:latin typeface="Aptos"/>
              </a:defRPr>
            </a:pPr>
            <a:r>
              <a:t>CRITÉRIO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480894"/>
            <a:ext cx="2221992" cy="466344"/>
          </a:xfrm>
          <a:prstGeom prst="roundRect">
            <a:avLst/>
          </a:prstGeom>
          <a:solidFill>
            <a:srgbClr val="FF8823"/>
          </a:solidFill>
          <a:ln>
            <a:solidFill>
              <a:srgbClr val="FF8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52928" y="1599766"/>
            <a:ext cx="20848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91835"/>
                </a:solidFill>
                <a:latin typeface="Aptos"/>
              </a:defRPr>
            </a:pPr>
            <a:r>
              <a:t>BADLINK WAN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480894"/>
            <a:ext cx="2221992" cy="466344"/>
          </a:xfrm>
          <a:prstGeom prst="roundRect">
            <a:avLst/>
          </a:prstGeom>
          <a:solidFill>
            <a:srgbClr val="FF8823"/>
          </a:solidFill>
          <a:ln>
            <a:solidFill>
              <a:srgbClr val="FF8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38928" y="1599766"/>
            <a:ext cx="20848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91835"/>
                </a:solidFill>
                <a:latin typeface="Aptos"/>
              </a:defRPr>
            </a:pPr>
            <a:r>
              <a:t>HIGH CPU / MEMORY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480894"/>
            <a:ext cx="2221992" cy="466344"/>
          </a:xfrm>
          <a:prstGeom prst="roundRect">
            <a:avLst/>
          </a:prstGeom>
          <a:solidFill>
            <a:srgbClr val="FF8823"/>
          </a:solidFill>
          <a:ln>
            <a:solidFill>
              <a:srgbClr val="FF8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24927" y="1599766"/>
            <a:ext cx="20848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91835"/>
                </a:solidFill>
                <a:latin typeface="Aptos"/>
              </a:defRPr>
            </a:pPr>
            <a:r>
              <a:t>EQUIPMENT DOWN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480894"/>
            <a:ext cx="2039112" cy="466344"/>
          </a:xfrm>
          <a:prstGeom prst="roundRect">
            <a:avLst/>
          </a:prstGeom>
          <a:solidFill>
            <a:srgbClr val="FF8823"/>
          </a:solidFill>
          <a:ln>
            <a:solidFill>
              <a:srgbClr val="FF8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10928" y="1599766"/>
            <a:ext cx="19019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91835"/>
                </a:solidFill>
                <a:latin typeface="Aptos"/>
              </a:defRPr>
            </a:pPr>
            <a:r>
              <a:t>OSPF NEIGHBOR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011246"/>
            <a:ext cx="2176272" cy="484632"/>
          </a:xfrm>
          <a:prstGeom prst="rect">
            <a:avLst/>
          </a:prstGeom>
          <a:solidFill>
            <a:srgbClr val="142A4D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213011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F8FF"/>
                </a:solidFill>
                <a:latin typeface="Aptos"/>
              </a:defRPr>
            </a:pPr>
            <a:r>
              <a:t>Volume / impacto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2011246"/>
            <a:ext cx="2221992" cy="484632"/>
          </a:xfrm>
          <a:prstGeom prst="rect">
            <a:avLst/>
          </a:prstGeom>
          <a:solidFill>
            <a:srgbClr val="142A4D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52928" y="213011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Alto (BADLINK geral)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2011246"/>
            <a:ext cx="2221992" cy="484632"/>
          </a:xfrm>
          <a:prstGeom prst="rect">
            <a:avLst/>
          </a:prstGeom>
          <a:solidFill>
            <a:srgbClr val="142A4D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38928" y="213011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A validar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2011246"/>
            <a:ext cx="2221992" cy="484632"/>
          </a:xfrm>
          <a:prstGeom prst="rect">
            <a:avLst/>
          </a:prstGeom>
          <a:solidFill>
            <a:srgbClr val="142A4D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24927" y="213011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Alto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2011246"/>
            <a:ext cx="2039112" cy="484632"/>
          </a:xfrm>
          <a:prstGeom prst="rect">
            <a:avLst/>
          </a:prstGeom>
          <a:solidFill>
            <a:srgbClr val="142A4D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10928" y="2130118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Alto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541598"/>
            <a:ext cx="2176272" cy="484632"/>
          </a:xfrm>
          <a:prstGeom prst="rect">
            <a:avLst/>
          </a:prstGeom>
          <a:solidFill>
            <a:srgbClr val="112443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266047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F8FF"/>
                </a:solidFill>
                <a:latin typeface="Aptos"/>
              </a:defRPr>
            </a:pPr>
            <a:r>
              <a:t>Base técnica no AAP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2541598"/>
            <a:ext cx="2221992" cy="484632"/>
          </a:xfrm>
          <a:prstGeom prst="rect">
            <a:avLst/>
          </a:prstGeom>
          <a:solidFill>
            <a:srgbClr val="112443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52928" y="266047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LAN como referência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2541598"/>
            <a:ext cx="2221992" cy="484632"/>
          </a:xfrm>
          <a:prstGeom prst="rect">
            <a:avLst/>
          </a:prstGeom>
          <a:solidFill>
            <a:srgbClr val="112443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38928" y="266047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Fluxo existente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2541598"/>
            <a:ext cx="2221992" cy="484632"/>
          </a:xfrm>
          <a:prstGeom prst="rect">
            <a:avLst/>
          </a:prstGeom>
          <a:solidFill>
            <a:srgbClr val="112443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24927" y="266047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A validar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2541598"/>
            <a:ext cx="2039112" cy="484632"/>
          </a:xfrm>
          <a:prstGeom prst="rect">
            <a:avLst/>
          </a:prstGeom>
          <a:solidFill>
            <a:srgbClr val="112443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10928" y="2660470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A validar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071950"/>
            <a:ext cx="2176272" cy="484632"/>
          </a:xfrm>
          <a:prstGeom prst="rect">
            <a:avLst/>
          </a:prstGeom>
          <a:solidFill>
            <a:srgbClr val="142A4D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2648" y="319082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F8FF"/>
                </a:solidFill>
                <a:latin typeface="Aptos"/>
              </a:defRPr>
            </a:pPr>
            <a:r>
              <a:t>Diagnóstico via Ansible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3071950"/>
            <a:ext cx="2221992" cy="484632"/>
          </a:xfrm>
          <a:prstGeom prst="rect">
            <a:avLst/>
          </a:prstGeom>
          <a:solidFill>
            <a:srgbClr val="142A4D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52928" y="3190821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Potencial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3071950"/>
            <a:ext cx="2221992" cy="484632"/>
          </a:xfrm>
          <a:prstGeom prst="rect">
            <a:avLst/>
          </a:prstGeom>
          <a:solidFill>
            <a:srgbClr val="142A4D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38928" y="3190821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Potencial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0" y="3071950"/>
            <a:ext cx="2221992" cy="484632"/>
          </a:xfrm>
          <a:prstGeom prst="rect">
            <a:avLst/>
          </a:prstGeom>
          <a:solidFill>
            <a:srgbClr val="142A4D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424927" y="3190821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Potencial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1200" y="3071950"/>
            <a:ext cx="2039112" cy="484632"/>
          </a:xfrm>
          <a:prstGeom prst="rect">
            <a:avLst/>
          </a:prstGeom>
          <a:solidFill>
            <a:srgbClr val="142A4D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710928" y="3190821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Potencial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602302"/>
            <a:ext cx="2176272" cy="484632"/>
          </a:xfrm>
          <a:prstGeom prst="rect">
            <a:avLst/>
          </a:prstGeom>
          <a:solidFill>
            <a:srgbClr val="112443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2648" y="372117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F8FF"/>
                </a:solidFill>
                <a:latin typeface="Aptos"/>
              </a:defRPr>
            </a:pPr>
            <a:r>
              <a:t>Ação corretiva segura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0" y="3602302"/>
            <a:ext cx="2221992" cy="484632"/>
          </a:xfrm>
          <a:prstGeom prst="rect">
            <a:avLst/>
          </a:prstGeom>
          <a:solidFill>
            <a:srgbClr val="112443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852928" y="372117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A validar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0" y="3602302"/>
            <a:ext cx="2221992" cy="484632"/>
          </a:xfrm>
          <a:prstGeom prst="rect">
            <a:avLst/>
          </a:prstGeom>
          <a:solidFill>
            <a:srgbClr val="112443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138928" y="372117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A validar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0" y="3602302"/>
            <a:ext cx="2221992" cy="484632"/>
          </a:xfrm>
          <a:prstGeom prst="rect">
            <a:avLst/>
          </a:prstGeom>
          <a:solidFill>
            <a:srgbClr val="112443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24927" y="372117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A validar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01200" y="3602302"/>
            <a:ext cx="2039112" cy="484632"/>
          </a:xfrm>
          <a:prstGeom prst="rect">
            <a:avLst/>
          </a:prstGeom>
          <a:solidFill>
            <a:srgbClr val="112443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710928" y="3721174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A validar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4132654"/>
            <a:ext cx="2176272" cy="484632"/>
          </a:xfrm>
          <a:prstGeom prst="rect">
            <a:avLst/>
          </a:prstGeom>
          <a:solidFill>
            <a:srgbClr val="142A4D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12648" y="425152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F8FF"/>
                </a:solidFill>
                <a:latin typeface="Aptos"/>
              </a:defRPr>
            </a:pPr>
            <a:r>
              <a:t>Resolução end-to-end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0" y="4132654"/>
            <a:ext cx="2221992" cy="484632"/>
          </a:xfrm>
          <a:prstGeom prst="rect">
            <a:avLst/>
          </a:prstGeom>
          <a:solidFill>
            <a:srgbClr val="142A4D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852928" y="425152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A validar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0" y="4132654"/>
            <a:ext cx="2221992" cy="484632"/>
          </a:xfrm>
          <a:prstGeom prst="rect">
            <a:avLst/>
          </a:prstGeom>
          <a:solidFill>
            <a:srgbClr val="142A4D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38928" y="425152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A validar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5200" y="4132654"/>
            <a:ext cx="2221992" cy="484632"/>
          </a:xfrm>
          <a:prstGeom prst="rect">
            <a:avLst/>
          </a:prstGeom>
          <a:solidFill>
            <a:srgbClr val="142A4D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424927" y="425152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A validar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01200" y="4132654"/>
            <a:ext cx="2039112" cy="484632"/>
          </a:xfrm>
          <a:prstGeom prst="rect">
            <a:avLst/>
          </a:prstGeom>
          <a:solidFill>
            <a:srgbClr val="142A4D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710928" y="4251526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A validar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4663006"/>
            <a:ext cx="2176272" cy="484632"/>
          </a:xfrm>
          <a:prstGeom prst="rect">
            <a:avLst/>
          </a:prstGeom>
          <a:solidFill>
            <a:srgbClr val="112443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12648" y="478187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F8FF"/>
                </a:solidFill>
                <a:latin typeface="Aptos"/>
              </a:defRPr>
            </a:pPr>
            <a:r>
              <a:t>Dependências externas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0" y="4663006"/>
            <a:ext cx="2221992" cy="484632"/>
          </a:xfrm>
          <a:prstGeom prst="rect">
            <a:avLst/>
          </a:prstGeom>
          <a:solidFill>
            <a:srgbClr val="112443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852928" y="478187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A mapear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0" y="4663006"/>
            <a:ext cx="2221992" cy="484632"/>
          </a:xfrm>
          <a:prstGeom prst="rect">
            <a:avLst/>
          </a:prstGeom>
          <a:solidFill>
            <a:srgbClr val="112443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138928" y="478187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A mapear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15200" y="4663006"/>
            <a:ext cx="2221992" cy="484632"/>
          </a:xfrm>
          <a:prstGeom prst="rect">
            <a:avLst/>
          </a:prstGeom>
          <a:solidFill>
            <a:srgbClr val="112443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424927" y="478187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A mapear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01200" y="4663006"/>
            <a:ext cx="2039112" cy="484632"/>
          </a:xfrm>
          <a:prstGeom prst="rect">
            <a:avLst/>
          </a:prstGeom>
          <a:solidFill>
            <a:srgbClr val="112443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710928" y="4781878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A mapear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30352" y="5376238"/>
            <a:ext cx="11109960" cy="749808"/>
          </a:xfrm>
          <a:prstGeom prst="roundRect">
            <a:avLst/>
          </a:prstGeom>
          <a:solidFill>
            <a:srgbClr val="273043"/>
          </a:solidFill>
          <a:ln>
            <a:solidFill>
              <a:srgbClr val="FF8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13232" y="5522542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8823"/>
                </a:solidFill>
                <a:latin typeface="Aptos"/>
              </a:defRPr>
            </a:pPr>
            <a:r>
              <a:t>PONTO DE DECISÃO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43200" y="5495110"/>
            <a:ext cx="8503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Qual cenário pode ser diagnosticado, tratado e encerrado automaticamente, com regras validadas?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02336"/>
            <a:ext cx="77724" cy="667512"/>
          </a:xfrm>
          <a:prstGeom prst="rect">
            <a:avLst/>
          </a:prstGeom>
          <a:solidFill>
            <a:srgbClr val="FF8823"/>
          </a:solidFill>
          <a:ln>
            <a:solidFill>
              <a:srgbClr val="FF8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Aptos"/>
              </a:defRPr>
            </a:pPr>
            <a:r>
              <a:t>Proposta de execução | R4 Telecom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418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B0C1D9"/>
                </a:solidFill>
                <a:latin typeface="Aptos"/>
              </a:defRPr>
            </a:pPr>
            <a:r>
              <a:t>BADLINK WAN como hipótese inicial; seleção condicionada à viabilidade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C1D9"/>
                </a:solidFill>
                <a:latin typeface="Aptos"/>
              </a:defRPr>
            </a:pPr>
            <a:r>
              <a:t>TELECOM  •  R4  |  DECISÃO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6480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C1D9"/>
                </a:solidFill>
                <a:latin typeface="Aptos"/>
              </a:defRPr>
            </a:pPr>
            <a:r>
              <a:t>2 /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22846"/>
            <a:ext cx="7360920" cy="1133856"/>
          </a:xfrm>
          <a:prstGeom prst="roundRect">
            <a:avLst/>
          </a:prstGeom>
          <a:solidFill>
            <a:srgbClr val="142A4D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732574"/>
            <a:ext cx="82296" cy="896112"/>
          </a:xfrm>
          <a:prstGeom prst="rect">
            <a:avLst/>
          </a:prstGeom>
          <a:solidFill>
            <a:srgbClr val="FF8823"/>
          </a:solidFill>
          <a:ln>
            <a:solidFill>
              <a:srgbClr val="FF8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732574"/>
            <a:ext cx="6583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823"/>
                </a:solidFill>
                <a:latin typeface="Aptos"/>
              </a:defRPr>
            </a:pPr>
            <a:r>
              <a:t>SPRINT 1  |  05–23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997750"/>
            <a:ext cx="6629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"/>
              </a:defRPr>
            </a:pPr>
            <a:r>
              <a:rPr dirty="0"/>
              <a:t>Discovery </a:t>
            </a:r>
            <a:r>
              <a:rPr dirty="0" err="1"/>
              <a:t>focado</a:t>
            </a:r>
            <a:r>
              <a:rPr dirty="0"/>
              <a:t> + </a:t>
            </a:r>
            <a:r>
              <a:rPr lang="pt-BR" dirty="0"/>
              <a:t>P</a:t>
            </a:r>
            <a:r>
              <a:rPr dirty="0" err="1"/>
              <a:t>rimeiro</a:t>
            </a:r>
            <a:r>
              <a:rPr dirty="0"/>
              <a:t>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390942"/>
            <a:ext cx="6720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Validar cenários resolvíveis; mapear AS-IS, contratos e dependências; iniciar AAP.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30438"/>
            <a:ext cx="7360920" cy="1133856"/>
          </a:xfrm>
          <a:prstGeom prst="roundRect">
            <a:avLst/>
          </a:prstGeom>
          <a:solidFill>
            <a:srgbClr val="142A4D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3040166"/>
            <a:ext cx="82296" cy="896112"/>
          </a:xfrm>
          <a:prstGeom prst="rect">
            <a:avLst/>
          </a:prstGeom>
          <a:solidFill>
            <a:srgbClr val="FF8823"/>
          </a:solidFill>
          <a:ln>
            <a:solidFill>
              <a:srgbClr val="FF8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3040166"/>
            <a:ext cx="6583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823"/>
                </a:solidFill>
                <a:latin typeface="Aptos"/>
              </a:defRPr>
            </a:pPr>
            <a:r>
              <a:t>SPRINT 2  |  26 OUT–13 NOV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305342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"/>
              </a:defRPr>
            </a:pPr>
            <a:r>
              <a:t>Primeiro cenário fim a fim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698533"/>
            <a:ext cx="6720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Implementar diagnóstico, decisão, ação autorizada e atualização/fechamento no ServiceNow.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238030"/>
            <a:ext cx="7360920" cy="1133856"/>
          </a:xfrm>
          <a:prstGeom prst="roundRect">
            <a:avLst/>
          </a:prstGeom>
          <a:solidFill>
            <a:srgbClr val="142A4D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4347758"/>
            <a:ext cx="82296" cy="896112"/>
          </a:xfrm>
          <a:prstGeom prst="rect">
            <a:avLst/>
          </a:prstGeom>
          <a:solidFill>
            <a:srgbClr val="FF8823"/>
          </a:solidFill>
          <a:ln>
            <a:solidFill>
              <a:srgbClr val="FF8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4347758"/>
            <a:ext cx="6583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823"/>
                </a:solidFill>
                <a:latin typeface="Aptos"/>
              </a:defRPr>
            </a:pPr>
            <a:r>
              <a:t>SPRINT 3  |  16 NOV–04 DEZ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612934"/>
            <a:ext cx="6629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"/>
              </a:defRPr>
            </a:pPr>
            <a:r>
              <a:rPr dirty="0" err="1"/>
              <a:t>Homologação</a:t>
            </a:r>
            <a:r>
              <a:rPr dirty="0"/>
              <a:t> + </a:t>
            </a:r>
            <a:r>
              <a:rPr lang="pt-BR" dirty="0"/>
              <a:t>A</a:t>
            </a:r>
            <a:r>
              <a:rPr dirty="0" err="1"/>
              <a:t>mpliação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859536" y="5006126"/>
            <a:ext cx="6720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0C1D9"/>
                </a:solidFill>
                <a:latin typeface="Aptos"/>
              </a:defRPr>
            </a:pPr>
            <a:r>
              <a:t>Testes E2E, tratamento de exceções, evidências e métricas de resolução.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02168" y="1622846"/>
            <a:ext cx="3401568" cy="1920240"/>
          </a:xfrm>
          <a:prstGeom prst="roundRect">
            <a:avLst/>
          </a:prstGeom>
          <a:solidFill>
            <a:srgbClr val="1F3452"/>
          </a:solidFill>
          <a:ln>
            <a:solidFill>
              <a:srgbClr val="FF8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0" y="183315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8823"/>
                </a:solidFill>
                <a:latin typeface="Aptos"/>
              </a:defRPr>
            </a:pPr>
            <a:r>
              <a:t>GATE DE DECISÃO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272070"/>
            <a:ext cx="29077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5F8FF"/>
                </a:solidFill>
                <a:latin typeface="Aptos"/>
              </a:defRPr>
            </a:pPr>
            <a:r>
              <a:t>Se não houver cenário WAN viável, selecionar outro incidente Telecom sem perder a sprint.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02168" y="3725966"/>
            <a:ext cx="3401568" cy="1819656"/>
          </a:xfrm>
          <a:prstGeom prst="roundRect">
            <a:avLst/>
          </a:prstGeom>
          <a:solidFill>
            <a:srgbClr val="142A4D"/>
          </a:solidFill>
          <a:ln>
            <a:solidFill>
              <a:srgbClr val="33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3927133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8823"/>
                </a:solidFill>
                <a:latin typeface="Aptos"/>
              </a:defRPr>
            </a:pPr>
            <a:r>
              <a:t>ACEITE PARA O KR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347758"/>
            <a:ext cx="28620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Execução autônoma de um cenário delimitado + evidência + resultado no chamado.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769430"/>
            <a:ext cx="109270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B0C1D9"/>
                </a:solidFill>
                <a:latin typeface="Aptos"/>
              </a:defRPr>
            </a:pPr>
            <a:r>
              <a:rPr dirty="0" err="1"/>
              <a:t>Responsabilidades</a:t>
            </a:r>
            <a:r>
              <a:rPr dirty="0"/>
              <a:t>: </a:t>
            </a:r>
            <a:r>
              <a:rPr dirty="0" err="1"/>
              <a:t>Automação</a:t>
            </a:r>
            <a:r>
              <a:rPr dirty="0"/>
              <a:t> </a:t>
            </a:r>
            <a:r>
              <a:rPr dirty="0" err="1"/>
              <a:t>lidera</a:t>
            </a:r>
            <a:r>
              <a:rPr dirty="0"/>
              <a:t> </a:t>
            </a:r>
            <a:r>
              <a:rPr dirty="0" err="1"/>
              <a:t>arquitetura</a:t>
            </a:r>
            <a:r>
              <a:rPr dirty="0"/>
              <a:t>/</a:t>
            </a:r>
            <a:r>
              <a:rPr dirty="0" err="1"/>
              <a:t>implementação</a:t>
            </a:r>
            <a:r>
              <a:rPr dirty="0"/>
              <a:t>; Telecom </a:t>
            </a:r>
            <a:r>
              <a:rPr dirty="0" err="1"/>
              <a:t>valida</a:t>
            </a:r>
            <a:r>
              <a:rPr dirty="0"/>
              <a:t> </a:t>
            </a:r>
            <a:r>
              <a:rPr dirty="0" err="1"/>
              <a:t>regras</a:t>
            </a:r>
            <a:r>
              <a:rPr dirty="0"/>
              <a:t> e </a:t>
            </a:r>
            <a:r>
              <a:rPr dirty="0" err="1"/>
              <a:t>ações</a:t>
            </a:r>
            <a:r>
              <a:rPr dirty="0"/>
              <a:t>; </a:t>
            </a:r>
            <a:r>
              <a:rPr dirty="0" err="1"/>
              <a:t>liderança</a:t>
            </a:r>
            <a:r>
              <a:rPr dirty="0"/>
              <a:t> </a:t>
            </a:r>
            <a:r>
              <a:rPr dirty="0" err="1"/>
              <a:t>confirma</a:t>
            </a:r>
            <a:r>
              <a:rPr dirty="0"/>
              <a:t> </a:t>
            </a:r>
            <a:r>
              <a:rPr dirty="0" err="1"/>
              <a:t>aderência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KR.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280</Words>
  <Application>Microsoft Office PowerPoint</Application>
  <PresentationFormat>Widescreen</PresentationFormat>
  <Paragraphs>59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Yasmim Duarte</cp:lastModifiedBy>
  <cp:revision>3</cp:revision>
  <dcterms:created xsi:type="dcterms:W3CDTF">2013-01-27T09:14:16Z</dcterms:created>
  <dcterms:modified xsi:type="dcterms:W3CDTF">2026-10-12T19:57:02Z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637e5cc-ed1f-4ad6-a881-35c0f1c6f3d8_Enabled">
    <vt:lpwstr>true</vt:lpwstr>
  </property>
  <property fmtid="{D5CDD505-2E9C-101B-9397-08002B2CF9AE}" pid="3" name="MSIP_Label_4637e5cc-ed1f-4ad6-a881-35c0f1c6f3d8_SetDate">
    <vt:lpwstr>2026-10-12T19:51:55Z</vt:lpwstr>
  </property>
  <property fmtid="{D5CDD505-2E9C-101B-9397-08002B2CF9AE}" pid="4" name="MSIP_Label_4637e5cc-ed1f-4ad6-a881-35c0f1c6f3d8_Method">
    <vt:lpwstr>Standard</vt:lpwstr>
  </property>
  <property fmtid="{D5CDD505-2E9C-101B-9397-08002B2CF9AE}" pid="5" name="MSIP_Label_4637e5cc-ed1f-4ad6-a881-35c0f1c6f3d8_Name">
    <vt:lpwstr>General</vt:lpwstr>
  </property>
  <property fmtid="{D5CDD505-2E9C-101B-9397-08002B2CF9AE}" pid="6" name="MSIP_Label_4637e5cc-ed1f-4ad6-a881-35c0f1c6f3d8_SiteId">
    <vt:lpwstr>e3cf3c98-a978-465f-8254-9d541eeea73c</vt:lpwstr>
  </property>
  <property fmtid="{D5CDD505-2E9C-101B-9397-08002B2CF9AE}" pid="7" name="MSIP_Label_4637e5cc-ed1f-4ad6-a881-35c0f1c6f3d8_ActionId">
    <vt:lpwstr>c85835b2-cc7d-45ad-b142-b06681727a8a</vt:lpwstr>
  </property>
  <property fmtid="{D5CDD505-2E9C-101B-9397-08002B2CF9AE}" pid="8" name="MSIP_Label_4637e5cc-ed1f-4ad6-a881-35c0f1c6f3d8_ContentBits">
    <vt:lpwstr>2</vt:lpwstr>
  </property>
  <property fmtid="{D5CDD505-2E9C-101B-9397-08002B2CF9AE}" pid="9" name="MSIP_Label_4637e5cc-ed1f-4ad6-a881-35c0f1c6f3d8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Sensitivity Label: General</vt:lpwstr>
  </property>
</Properties>
</file>