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B55D82-FDE9-F177-5B90-615EF35C294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14975" y="6672580"/>
            <a:ext cx="11874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800">
                <a:solidFill>
                  <a:srgbClr val="2E404D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 Label: General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65760"/>
            <a:ext cx="82296" cy="566928"/>
          </a:xfrm>
          <a:prstGeom prst="rect">
            <a:avLst/>
          </a:prstGeom>
          <a:solidFill>
            <a:srgbClr val="FF7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881360" cy="45720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7FAFF"/>
                </a:solidFill>
                <a:latin typeface="Aptos"/>
              </a:defRPr>
            </a:pPr>
            <a:r>
              <a:t>BADLINK WAN | Processo atual (AS-IS)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896112"/>
            <a:ext cx="10927080" cy="273921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0C5DB"/>
                </a:solidFill>
                <a:latin typeface="Aptos"/>
              </a:defRPr>
            </a:pPr>
            <a:r>
              <a:rPr dirty="0" err="1"/>
              <a:t>Fluxo</a:t>
            </a:r>
            <a:r>
              <a:rPr dirty="0"/>
              <a:t> </a:t>
            </a:r>
            <a:r>
              <a:rPr dirty="0" err="1"/>
              <a:t>levantado</a:t>
            </a:r>
            <a:r>
              <a:rPr dirty="0"/>
              <a:t> com Eduardo • Operadora </a:t>
            </a:r>
            <a:r>
              <a:rPr dirty="0" err="1"/>
              <a:t>executa</a:t>
            </a:r>
            <a:r>
              <a:rPr dirty="0"/>
              <a:t> a </a:t>
            </a:r>
            <a:r>
              <a:rPr dirty="0" err="1"/>
              <a:t>remediação</a:t>
            </a:r>
            <a:r>
              <a:rPr lang="pt-BR" dirty="0"/>
              <a:t> e</a:t>
            </a:r>
            <a:r>
              <a:rPr dirty="0"/>
              <a:t> Telecom </a:t>
            </a:r>
            <a:r>
              <a:rPr dirty="0" err="1"/>
              <a:t>acompanha</a:t>
            </a:r>
            <a:r>
              <a:rPr dirty="0"/>
              <a:t> e </a:t>
            </a:r>
            <a:r>
              <a:rPr dirty="0" err="1"/>
              <a:t>valida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10881360" cy="22860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0C5DB"/>
                </a:solidFill>
                <a:latin typeface="Aptos"/>
              </a:defRPr>
            </a:pPr>
            <a:r>
              <a:t>R4 TELECOM  •  DISCOVERY 14/10/2026     1/4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2619" y="1640260"/>
            <a:ext cx="2167128" cy="2788920"/>
          </a:xfrm>
          <a:prstGeom prst="roundRect">
            <a:avLst/>
          </a:prstGeom>
          <a:solidFill>
            <a:srgbClr val="0E2749"/>
          </a:solidFill>
          <a:ln w="16510">
            <a:solidFill>
              <a:srgbClr val="24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9779" y="1795708"/>
            <a:ext cx="59436" cy="320040"/>
          </a:xfrm>
          <a:prstGeom prst="rect">
            <a:avLst/>
          </a:prstGeom>
          <a:solidFill>
            <a:srgbClr val="24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9941" y="1759132"/>
            <a:ext cx="1865376" cy="28931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7FAFF"/>
                </a:solidFill>
                <a:latin typeface="Aptos"/>
              </a:defRPr>
            </a:pPr>
            <a:r>
              <a:rPr dirty="0"/>
              <a:t>1. </a:t>
            </a:r>
            <a:r>
              <a:rPr dirty="0" err="1"/>
              <a:t>Evento</a:t>
            </a:r>
            <a:r>
              <a:rPr dirty="0"/>
              <a:t> / </a:t>
            </a:r>
            <a:r>
              <a:rPr dirty="0" err="1"/>
              <a:t>agregação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31219" y="2271196"/>
            <a:ext cx="1728216" cy="997196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0C5DB"/>
                </a:solidFill>
                <a:latin typeface="Aptos"/>
              </a:defRPr>
            </a:pPr>
            <a:r>
              <a:rPr dirty="0"/>
              <a:t>ServiceNow </a:t>
            </a:r>
            <a:r>
              <a:rPr dirty="0" err="1"/>
              <a:t>correlaciona</a:t>
            </a:r>
            <a:r>
              <a:rPr dirty="0"/>
              <a:t> </a:t>
            </a:r>
            <a:r>
              <a:rPr dirty="0" err="1"/>
              <a:t>eventos</a:t>
            </a:r>
            <a:r>
              <a:rPr dirty="0"/>
              <a:t> (BADLINK, OSPF, IPSLA etc.) e </a:t>
            </a:r>
            <a:r>
              <a:rPr dirty="0" err="1"/>
              <a:t>cria</a:t>
            </a:r>
            <a:r>
              <a:rPr dirty="0"/>
              <a:t> </a:t>
            </a:r>
            <a:r>
              <a:rPr lang="pt-BR" dirty="0"/>
              <a:t>o </a:t>
            </a:r>
            <a:r>
              <a:rPr dirty="0" err="1"/>
              <a:t>incidente</a:t>
            </a:r>
            <a:r>
              <a:rPr dirty="0"/>
              <a:t> pai “Link</a:t>
            </a:r>
            <a:r>
              <a:rPr lang="pt-BR" dirty="0"/>
              <a:t>s</a:t>
            </a:r>
            <a:r>
              <a:rPr dirty="0"/>
              <a:t> com Falha</a:t>
            </a:r>
            <a:r>
              <a:rPr lang="pt-BR" dirty="0"/>
              <a:t>s</a:t>
            </a:r>
            <a:r>
              <a:rPr dirty="0"/>
              <a:t>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8891" y="2700964"/>
            <a:ext cx="173736" cy="4114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7F2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2627" y="1640260"/>
            <a:ext cx="2167128" cy="2788920"/>
          </a:xfrm>
          <a:prstGeom prst="roundRect">
            <a:avLst/>
          </a:prstGeom>
          <a:solidFill>
            <a:srgbClr val="0E2749"/>
          </a:solidFill>
          <a:ln w="16510">
            <a:solidFill>
              <a:srgbClr val="24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89787" y="1795708"/>
            <a:ext cx="59436" cy="320040"/>
          </a:xfrm>
          <a:prstGeom prst="rect">
            <a:avLst/>
          </a:prstGeom>
          <a:solidFill>
            <a:srgbClr val="24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99949" y="1759132"/>
            <a:ext cx="1805940" cy="28931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7FAFF"/>
                </a:solidFill>
                <a:latin typeface="Aptos"/>
              </a:defRPr>
            </a:pPr>
            <a:r>
              <a:rPr dirty="0"/>
              <a:t>2. </a:t>
            </a:r>
            <a:r>
              <a:rPr dirty="0" err="1"/>
              <a:t>Encaminhamento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2881227" y="2271196"/>
            <a:ext cx="1728216" cy="21031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0C5DB"/>
                </a:solidFill>
                <a:latin typeface="Aptos"/>
              </a:defRPr>
            </a:pPr>
            <a:r>
              <a:t>Incidente direcionado ao grupo responsável da operadora (Vivo, Claro, Algar, Oi etc.).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899" y="2700964"/>
            <a:ext cx="173736" cy="4114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7F2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2635" y="1640260"/>
            <a:ext cx="2167128" cy="2788920"/>
          </a:xfrm>
          <a:prstGeom prst="roundRect">
            <a:avLst/>
          </a:prstGeom>
          <a:solidFill>
            <a:srgbClr val="0E2749"/>
          </a:solidFill>
          <a:ln w="16510">
            <a:solidFill>
              <a:srgbClr val="24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39795" y="1795708"/>
            <a:ext cx="59436" cy="320040"/>
          </a:xfrm>
          <a:prstGeom prst="rect">
            <a:avLst/>
          </a:prstGeom>
          <a:solidFill>
            <a:srgbClr val="24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9957" y="1759132"/>
            <a:ext cx="1737360" cy="402336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7FAFF"/>
                </a:solidFill>
                <a:latin typeface="Aptos"/>
              </a:defRPr>
            </a:pPr>
            <a:r>
              <a:rPr dirty="0"/>
              <a:t>3. </a:t>
            </a:r>
            <a:r>
              <a:rPr dirty="0" err="1"/>
              <a:t>Análise</a:t>
            </a:r>
            <a:r>
              <a:rPr dirty="0"/>
              <a:t> </a:t>
            </a:r>
            <a:r>
              <a:rPr dirty="0" err="1"/>
              <a:t>conjunta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5231235" y="2271196"/>
            <a:ext cx="1728216" cy="21031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0C5DB"/>
                </a:solidFill>
                <a:latin typeface="Aptos"/>
              </a:defRPr>
            </a:pPr>
            <a:r>
              <a:t>Operadora conduz a tratativa; Telecom consulta equipamentos e usa One Click para checks/evidências.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907" y="2700964"/>
            <a:ext cx="173736" cy="4114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7F2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2642" y="1640260"/>
            <a:ext cx="2167128" cy="2788920"/>
          </a:xfrm>
          <a:prstGeom prst="roundRect">
            <a:avLst/>
          </a:prstGeom>
          <a:solidFill>
            <a:srgbClr val="0E2749"/>
          </a:solidFill>
          <a:ln w="16510">
            <a:solidFill>
              <a:srgbClr val="24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89802" y="1795708"/>
            <a:ext cx="59436" cy="320040"/>
          </a:xfrm>
          <a:prstGeom prst="rect">
            <a:avLst/>
          </a:prstGeom>
          <a:solidFill>
            <a:srgbClr val="24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54394" y="1759132"/>
            <a:ext cx="1737360" cy="402336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7FAFF"/>
                </a:solidFill>
                <a:latin typeface="Aptos"/>
              </a:defRPr>
            </a:pPr>
            <a:r>
              <a:rPr dirty="0"/>
              <a:t>4. </a:t>
            </a:r>
            <a:r>
              <a:rPr dirty="0" err="1"/>
              <a:t>Retorno</a:t>
            </a:r>
            <a:r>
              <a:rPr dirty="0"/>
              <a:t> da </a:t>
            </a:r>
            <a:r>
              <a:rPr dirty="0" err="1"/>
              <a:t>operadora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7581242" y="2271196"/>
            <a:ext cx="1728216" cy="21031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0C5DB"/>
                </a:solidFill>
                <a:latin typeface="Aptos"/>
              </a:defRPr>
            </a:pPr>
            <a:r>
              <a:t>Operadora registra no chamado causa, ações realizadas e status; interação pode ocorrer via Teams.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914" y="2700964"/>
            <a:ext cx="173736" cy="4114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7F2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02650" y="1640260"/>
            <a:ext cx="2167128" cy="2788920"/>
          </a:xfrm>
          <a:prstGeom prst="roundRect">
            <a:avLst/>
          </a:prstGeom>
          <a:solidFill>
            <a:srgbClr val="0E2749"/>
          </a:solidFill>
          <a:ln w="16510">
            <a:solidFill>
              <a:srgbClr val="FF7F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39810" y="1795708"/>
            <a:ext cx="59436" cy="320040"/>
          </a:xfrm>
          <a:prstGeom prst="rect">
            <a:avLst/>
          </a:prstGeom>
          <a:solidFill>
            <a:srgbClr val="FF7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04402" y="1759132"/>
            <a:ext cx="1737360" cy="402336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7FAFF"/>
                </a:solidFill>
                <a:latin typeface="Aptos"/>
              </a:defRPr>
            </a:pPr>
            <a:r>
              <a:t>5. Pós-validação Telecom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1250" y="2271196"/>
            <a:ext cx="1728216" cy="21031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0C5DB"/>
                </a:solidFill>
                <a:latin typeface="Aptos"/>
              </a:defRPr>
            </a:pPr>
            <a:r>
              <a:t>Telecom confere estado dos equipamentos/links e, se normalizado, conclui o incidente pai.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014396"/>
            <a:ext cx="10881360" cy="987552"/>
          </a:xfrm>
          <a:prstGeom prst="roundRect">
            <a:avLst/>
          </a:prstGeom>
          <a:solidFill>
            <a:srgbClr val="1A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" y="5169844"/>
            <a:ext cx="1463040" cy="301752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7F21"/>
                </a:solidFill>
                <a:latin typeface="Aptos"/>
              </a:defRPr>
            </a:pPr>
            <a:r>
              <a:rPr dirty="0"/>
              <a:t>Ponto-</a:t>
            </a:r>
            <a:r>
              <a:rPr dirty="0" err="1"/>
              <a:t>chave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851263" y="5540586"/>
            <a:ext cx="10633602" cy="32008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7FAFF"/>
                </a:solidFill>
                <a:latin typeface="Aptos"/>
              </a:defRPr>
            </a:pPr>
            <a:r>
              <a:rPr sz="1600" dirty="0"/>
              <a:t>O </a:t>
            </a:r>
            <a:r>
              <a:rPr sz="1600" dirty="0" err="1"/>
              <a:t>encerramento</a:t>
            </a:r>
            <a:r>
              <a:rPr sz="1600" dirty="0"/>
              <a:t> </a:t>
            </a:r>
            <a:r>
              <a:rPr lang="pt-BR" sz="1600" dirty="0"/>
              <a:t>do incidente </a:t>
            </a:r>
            <a:r>
              <a:rPr sz="1600" dirty="0" err="1"/>
              <a:t>hoje</a:t>
            </a:r>
            <a:r>
              <a:rPr sz="1600" dirty="0"/>
              <a:t> </a:t>
            </a:r>
            <a:r>
              <a:rPr sz="1600" dirty="0" err="1"/>
              <a:t>depende</a:t>
            </a:r>
            <a:r>
              <a:rPr sz="1600" dirty="0"/>
              <a:t> da </a:t>
            </a:r>
            <a:r>
              <a:rPr sz="1600" dirty="0" err="1"/>
              <a:t>confirmação</a:t>
            </a:r>
            <a:r>
              <a:rPr sz="1600" dirty="0"/>
              <a:t> da </a:t>
            </a:r>
            <a:r>
              <a:rPr sz="1600" dirty="0" err="1"/>
              <a:t>operadora</a:t>
            </a:r>
            <a:r>
              <a:rPr lang="pt-BR" sz="1600" dirty="0"/>
              <a:t> no </a:t>
            </a:r>
            <a:r>
              <a:rPr sz="1600" dirty="0"/>
              <a:t> </a:t>
            </a:r>
            <a:r>
              <a:rPr lang="pt-BR" sz="1600" dirty="0"/>
              <a:t>Snow </a:t>
            </a:r>
            <a:r>
              <a:rPr sz="1600" dirty="0"/>
              <a:t>+ </a:t>
            </a:r>
            <a:r>
              <a:rPr sz="1600" dirty="0" err="1"/>
              <a:t>checagem</a:t>
            </a:r>
            <a:r>
              <a:rPr sz="1600" dirty="0"/>
              <a:t> final </a:t>
            </a:r>
            <a:r>
              <a:rPr sz="1600" dirty="0" err="1"/>
              <a:t>feita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Telecom.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65760"/>
            <a:ext cx="82296" cy="566928"/>
          </a:xfrm>
          <a:prstGeom prst="rect">
            <a:avLst/>
          </a:prstGeom>
          <a:solidFill>
            <a:srgbClr val="FF7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881360" cy="45720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7FAFF"/>
                </a:solidFill>
                <a:latin typeface="Aptos"/>
              </a:defRPr>
            </a:pPr>
            <a:r>
              <a:t>BADLINK WAN | Proposta com Ansible (TO-BE)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896112"/>
            <a:ext cx="10927080" cy="45720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0C5DB"/>
                </a:solidFill>
                <a:latin typeface="Aptos"/>
              </a:defRPr>
            </a:pPr>
            <a:r>
              <a:t>Automatizar o trecho executado por Telecom, mantendo a remediação na operadora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10881360" cy="22860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0C5DB"/>
                </a:solidFill>
                <a:latin typeface="Aptos"/>
              </a:defRPr>
            </a:pPr>
            <a:r>
              <a:t>R4 TELECOM  •  DISCOVERY 14/10/2026     2/4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806" y="1568416"/>
            <a:ext cx="2770632" cy="1408176"/>
          </a:xfrm>
          <a:prstGeom prst="roundRect">
            <a:avLst/>
          </a:prstGeom>
          <a:solidFill>
            <a:srgbClr val="0E2749"/>
          </a:solidFill>
          <a:ln w="16510">
            <a:solidFill>
              <a:srgbClr val="24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0966" y="1723864"/>
            <a:ext cx="59436" cy="320040"/>
          </a:xfrm>
          <a:prstGeom prst="rect">
            <a:avLst/>
          </a:prstGeom>
          <a:solidFill>
            <a:srgbClr val="24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5558" y="1687288"/>
            <a:ext cx="2340863" cy="304699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7FAFF"/>
                </a:solidFill>
                <a:latin typeface="Aptos"/>
              </a:defRPr>
            </a:pPr>
            <a:r>
              <a:rPr dirty="0"/>
              <a:t>ServiceNow / </a:t>
            </a:r>
            <a:r>
              <a:rPr lang="pt-BR" dirty="0"/>
              <a:t>O</a:t>
            </a:r>
            <a:r>
              <a:rPr dirty="0" err="1"/>
              <a:t>peradora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42406" y="2199352"/>
            <a:ext cx="2331720" cy="722376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0C5DB"/>
                </a:solidFill>
                <a:latin typeface="Aptos"/>
              </a:defRPr>
            </a:pPr>
            <a:r>
              <a:t>Incidente pai em espera; retorno registrado pela operadora com ação e status.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9302" y="2025616"/>
            <a:ext cx="320040" cy="4114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7F2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5062" y="1568416"/>
            <a:ext cx="2761488" cy="1408176"/>
          </a:xfrm>
          <a:prstGeom prst="roundRect">
            <a:avLst/>
          </a:prstGeom>
          <a:solidFill>
            <a:srgbClr val="0E2749"/>
          </a:solidFill>
          <a:ln w="16510">
            <a:solidFill>
              <a:srgbClr val="FF7F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2222" y="1723864"/>
            <a:ext cx="59436" cy="320040"/>
          </a:xfrm>
          <a:prstGeom prst="rect">
            <a:avLst/>
          </a:prstGeom>
          <a:solidFill>
            <a:srgbClr val="FF7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06814" y="1687288"/>
            <a:ext cx="2331720" cy="402336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7FAFF"/>
                </a:solidFill>
                <a:latin typeface="Aptos"/>
              </a:defRPr>
            </a:pPr>
            <a:r>
              <a:t>AAP • Validação de retorno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3662" y="2199352"/>
            <a:ext cx="2322576" cy="722376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0C5DB"/>
                </a:solidFill>
                <a:latin typeface="Aptos"/>
              </a:defRPr>
            </a:pPr>
            <a:r>
              <a:t>Verificar status, campos obrigatórios e evidência do OK; sem confiar apenas em texto livre.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1414" y="2025616"/>
            <a:ext cx="320040" cy="4114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7F2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96318" y="1568416"/>
            <a:ext cx="4709160" cy="1408176"/>
          </a:xfrm>
          <a:prstGeom prst="roundRect">
            <a:avLst/>
          </a:prstGeom>
          <a:solidFill>
            <a:srgbClr val="0E2749"/>
          </a:solidFill>
          <a:ln w="16510">
            <a:solidFill>
              <a:srgbClr val="25A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33478" y="1723864"/>
            <a:ext cx="59436" cy="320040"/>
          </a:xfrm>
          <a:prstGeom prst="rect">
            <a:avLst/>
          </a:prstGeom>
          <a:solidFill>
            <a:srgbClr val="25A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98070" y="1687288"/>
            <a:ext cx="4279392" cy="402336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7FAFF"/>
                </a:solidFill>
                <a:latin typeface="Aptos"/>
              </a:defRPr>
            </a:pPr>
            <a:r>
              <a:rPr dirty="0"/>
              <a:t>AAP • Pós-</a:t>
            </a:r>
            <a:r>
              <a:rPr dirty="0" err="1"/>
              <a:t>validação</a:t>
            </a:r>
            <a:r>
              <a:rPr dirty="0"/>
              <a:t> </a:t>
            </a:r>
            <a:r>
              <a:rPr dirty="0" err="1"/>
              <a:t>técnica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7124918" y="2199352"/>
            <a:ext cx="4270248" cy="722376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0C5DB"/>
                </a:solidFill>
                <a:latin typeface="Aptos"/>
              </a:defRPr>
            </a:pPr>
            <a:r>
              <a:t>Conectar ao equipamento e executar checks autorizados: conectividade, interface, vizinhança/OSPF e estabilidade, conforme o evento.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2412" y="3431182"/>
            <a:ext cx="9144000" cy="335476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7FAFF"/>
                </a:solidFill>
                <a:latin typeface="Aptos"/>
              </a:defRPr>
            </a:pPr>
            <a:r>
              <a:rPr dirty="0"/>
              <a:t>RESULTADO DA PÓS-VALIDAÇÃO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9254" y="3988966"/>
            <a:ext cx="5239512" cy="1490472"/>
          </a:xfrm>
          <a:prstGeom prst="roundRect">
            <a:avLst/>
          </a:prstGeom>
          <a:solidFill>
            <a:srgbClr val="0E2749"/>
          </a:solidFill>
          <a:ln w="16510">
            <a:solidFill>
              <a:srgbClr val="25A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6414" y="4144414"/>
            <a:ext cx="59436" cy="320040"/>
          </a:xfrm>
          <a:prstGeom prst="rect">
            <a:avLst/>
          </a:prstGeom>
          <a:solidFill>
            <a:srgbClr val="25A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006" y="4107838"/>
            <a:ext cx="4809744" cy="32008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7FAFF"/>
                </a:solidFill>
                <a:latin typeface="Aptos"/>
              </a:defRPr>
            </a:pPr>
            <a:r>
              <a:rPr dirty="0" err="1"/>
              <a:t>Normalizado</a:t>
            </a:r>
            <a:r>
              <a:rPr dirty="0"/>
              <a:t> + </a:t>
            </a:r>
            <a:r>
              <a:rPr lang="pt-BR" dirty="0"/>
              <a:t>C</a:t>
            </a:r>
            <a:r>
              <a:rPr dirty="0" err="1"/>
              <a:t>ritérios</a:t>
            </a:r>
            <a:r>
              <a:rPr dirty="0"/>
              <a:t> </a:t>
            </a:r>
            <a:r>
              <a:rPr dirty="0" err="1"/>
              <a:t>atendidos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97854" y="4619902"/>
            <a:ext cx="4800600" cy="674031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0C5DB"/>
                </a:solidFill>
                <a:latin typeface="Aptos"/>
              </a:defRPr>
            </a:pPr>
            <a:r>
              <a:rPr dirty="0"/>
              <a:t>Registrar </a:t>
            </a:r>
            <a:r>
              <a:rPr dirty="0" err="1"/>
              <a:t>evidências</a:t>
            </a:r>
            <a:r>
              <a:rPr lang="pt-BR" dirty="0"/>
              <a:t> de logs</a:t>
            </a:r>
            <a:r>
              <a:rPr dirty="0"/>
              <a:t>, </a:t>
            </a:r>
            <a:r>
              <a:rPr dirty="0" err="1"/>
              <a:t>aplicar</a:t>
            </a:r>
            <a:r>
              <a:rPr dirty="0"/>
              <a:t> </a:t>
            </a:r>
            <a:r>
              <a:rPr dirty="0" err="1"/>
              <a:t>resolução</a:t>
            </a:r>
            <a:r>
              <a:rPr dirty="0"/>
              <a:t>/</a:t>
            </a:r>
            <a:r>
              <a:rPr dirty="0" err="1"/>
              <a:t>encerramento</a:t>
            </a:r>
            <a:r>
              <a:rPr dirty="0"/>
              <a:t> no ServiceNow e registrar </a:t>
            </a:r>
            <a:r>
              <a:rPr dirty="0" err="1"/>
              <a:t>rastreabilidade</a:t>
            </a:r>
            <a:r>
              <a:rPr lang="pt-BR" dirty="0"/>
              <a:t> antes de encerrar o incidente.</a:t>
            </a:r>
            <a:endParaRPr dirty="0"/>
          </a:p>
        </p:txBody>
      </p:sp>
      <p:sp>
        <p:nvSpPr>
          <p:cNvPr id="25" name="Rounded Rectangle 24"/>
          <p:cNvSpPr/>
          <p:nvPr/>
        </p:nvSpPr>
        <p:spPr>
          <a:xfrm>
            <a:off x="6292814" y="3988966"/>
            <a:ext cx="5239512" cy="1490472"/>
          </a:xfrm>
          <a:prstGeom prst="roundRect">
            <a:avLst/>
          </a:prstGeom>
          <a:solidFill>
            <a:srgbClr val="0E2749"/>
          </a:solidFill>
          <a:ln w="16510">
            <a:solidFill>
              <a:srgbClr val="EA6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29974" y="4144414"/>
            <a:ext cx="59436" cy="320040"/>
          </a:xfrm>
          <a:prstGeom prst="rect">
            <a:avLst/>
          </a:prstGeom>
          <a:solidFill>
            <a:srgbClr val="EA6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94566" y="4107838"/>
            <a:ext cx="4809744" cy="320088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7FAFF"/>
                </a:solidFill>
                <a:latin typeface="Aptos"/>
              </a:defRPr>
            </a:pPr>
            <a:r>
              <a:rPr dirty="0"/>
              <a:t>Falha </a:t>
            </a:r>
            <a:r>
              <a:rPr dirty="0" err="1"/>
              <a:t>persistente</a:t>
            </a:r>
            <a:r>
              <a:rPr dirty="0"/>
              <a:t> / </a:t>
            </a:r>
            <a:r>
              <a:rPr lang="pt-BR" dirty="0"/>
              <a:t>R</a:t>
            </a:r>
            <a:r>
              <a:rPr dirty="0" err="1"/>
              <a:t>etorno</a:t>
            </a:r>
            <a:r>
              <a:rPr dirty="0"/>
              <a:t> </a:t>
            </a:r>
            <a:r>
              <a:rPr dirty="0" err="1"/>
              <a:t>insuficiente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6521414" y="4619902"/>
            <a:ext cx="4800600" cy="473976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0C5DB"/>
                </a:solidFill>
                <a:latin typeface="Aptos"/>
              </a:defRPr>
            </a:pP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encerrar</a:t>
            </a:r>
            <a:r>
              <a:rPr lang="pt-BR" dirty="0"/>
              <a:t>, </a:t>
            </a:r>
            <a:r>
              <a:rPr dirty="0"/>
              <a:t>registrar </a:t>
            </a:r>
            <a:r>
              <a:rPr dirty="0" err="1"/>
              <a:t>diagnóstico</a:t>
            </a:r>
            <a:r>
              <a:rPr dirty="0"/>
              <a:t> e </a:t>
            </a:r>
            <a:r>
              <a:rPr dirty="0" err="1"/>
              <a:t>manter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devolver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grupo</a:t>
            </a:r>
            <a:r>
              <a:rPr dirty="0"/>
              <a:t> </a:t>
            </a:r>
            <a:r>
              <a:rPr dirty="0" err="1"/>
              <a:t>responsável</a:t>
            </a:r>
            <a:r>
              <a:rPr dirty="0"/>
              <a:t>, com </a:t>
            </a:r>
            <a:r>
              <a:rPr dirty="0" err="1"/>
              <a:t>motivo</a:t>
            </a:r>
            <a:r>
              <a:rPr dirty="0"/>
              <a:t> </a:t>
            </a:r>
            <a:r>
              <a:rPr dirty="0" err="1"/>
              <a:t>explícito</a:t>
            </a:r>
            <a:r>
              <a:rPr dirty="0"/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6090" y="5847808"/>
            <a:ext cx="1521824" cy="304699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7F21"/>
                </a:solidFill>
                <a:latin typeface="Aptos"/>
              </a:defRPr>
            </a:pPr>
            <a:r>
              <a:rPr sz="1500" dirty="0" err="1">
                <a:solidFill>
                  <a:srgbClr val="FF7F21"/>
                </a:solidFill>
                <a:latin typeface="Aptos"/>
              </a:rPr>
              <a:t>Escopo</a:t>
            </a:r>
            <a:r>
              <a:rPr sz="1500" dirty="0">
                <a:solidFill>
                  <a:srgbClr val="FF7F21"/>
                </a:solidFill>
                <a:latin typeface="Aptos"/>
              </a:rPr>
              <a:t> </a:t>
            </a:r>
            <a:r>
              <a:rPr sz="1500" dirty="0" err="1">
                <a:solidFill>
                  <a:srgbClr val="FF7F21"/>
                </a:solidFill>
                <a:latin typeface="Aptos"/>
              </a:rPr>
              <a:t>inicial</a:t>
            </a:r>
            <a:r>
              <a:rPr lang="pt-BR" sz="1500" dirty="0">
                <a:solidFill>
                  <a:srgbClr val="FF7F21"/>
                </a:solidFill>
                <a:latin typeface="Aptos"/>
              </a:rPr>
              <a:t>:</a:t>
            </a:r>
            <a:endParaRPr sz="1600" dirty="0">
              <a:solidFill>
                <a:srgbClr val="F7FAFF"/>
              </a:solidFill>
              <a:latin typeface="Apto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CA5DA7-C22B-937F-D455-DE82B761FB63}"/>
              </a:ext>
            </a:extLst>
          </p:cNvPr>
          <p:cNvSpPr txBox="1"/>
          <p:nvPr/>
        </p:nvSpPr>
        <p:spPr>
          <a:xfrm>
            <a:off x="1671282" y="5830880"/>
            <a:ext cx="10698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F7FAFF"/>
                </a:solidFill>
                <a:latin typeface="Aptos"/>
              </a:rPr>
              <a:t>Automatizar a pós-validação e o tratamento do incidente pai - não automatizar intervenções da operadora nesta fase.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048" y="365760"/>
            <a:ext cx="82296" cy="566928"/>
          </a:xfrm>
          <a:prstGeom prst="rect">
            <a:avLst/>
          </a:prstGeom>
          <a:solidFill>
            <a:srgbClr val="FF7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881360" cy="489365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7FAFF"/>
                </a:solidFill>
                <a:latin typeface="Aptos"/>
              </a:defRPr>
            </a:pPr>
            <a:r>
              <a:rPr dirty="0"/>
              <a:t>Alternativa R4 | Falha de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896112"/>
            <a:ext cx="10927080" cy="45720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0C5DB"/>
                </a:solidFill>
                <a:latin typeface="Aptos"/>
              </a:defRPr>
            </a:pPr>
            <a:r>
              <a:rPr dirty="0" err="1"/>
              <a:t>Candidato</a:t>
            </a:r>
            <a:r>
              <a:rPr dirty="0"/>
              <a:t> </a:t>
            </a:r>
            <a:r>
              <a:rPr dirty="0" err="1"/>
              <a:t>adicional</a:t>
            </a:r>
            <a:r>
              <a:rPr dirty="0"/>
              <a:t> para discovery: </a:t>
            </a:r>
            <a:r>
              <a:rPr dirty="0" err="1"/>
              <a:t>incidente</a:t>
            </a:r>
            <a:r>
              <a:rPr dirty="0"/>
              <a:t> </a:t>
            </a:r>
            <a:r>
              <a:rPr dirty="0" err="1"/>
              <a:t>hoje</a:t>
            </a:r>
            <a:r>
              <a:rPr dirty="0"/>
              <a:t> </a:t>
            </a:r>
            <a:r>
              <a:rPr dirty="0" err="1"/>
              <a:t>tratado</a:t>
            </a:r>
            <a:r>
              <a:rPr dirty="0"/>
              <a:t> e </a:t>
            </a:r>
            <a:r>
              <a:rPr dirty="0" err="1"/>
              <a:t>encerrado</a:t>
            </a:r>
            <a:r>
              <a:rPr dirty="0"/>
              <a:t> </a:t>
            </a:r>
            <a:r>
              <a:rPr dirty="0" err="1"/>
              <a:t>manualmente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Telecom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10881360" cy="22860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0C5DB"/>
                </a:solidFill>
                <a:latin typeface="Aptos"/>
              </a:defRPr>
            </a:pPr>
            <a:r>
              <a:t>R4 TELECOM  •  DISCOVERY 14/10/2026     4/4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481328"/>
            <a:ext cx="5440680" cy="3502152"/>
          </a:xfrm>
          <a:prstGeom prst="roundRect">
            <a:avLst/>
          </a:prstGeom>
          <a:solidFill>
            <a:srgbClr val="0E2749"/>
          </a:solidFill>
          <a:ln w="16510">
            <a:solidFill>
              <a:srgbClr val="24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3262" y="1756522"/>
            <a:ext cx="59436" cy="320040"/>
          </a:xfrm>
          <a:prstGeom prst="rect">
            <a:avLst/>
          </a:prstGeom>
          <a:solidFill>
            <a:srgbClr val="24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7854" y="1719946"/>
            <a:ext cx="5010912" cy="402336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7FAFF"/>
                </a:solidFill>
                <a:latin typeface="Aptos"/>
              </a:defRPr>
            </a:pPr>
            <a:r>
              <a:t>Cenário atual e oportunidade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417066"/>
            <a:ext cx="5001768" cy="1651221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B0C5DB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Alerta</a:t>
            </a:r>
            <a:r>
              <a:rPr dirty="0"/>
              <a:t> </a:t>
            </a:r>
            <a:r>
              <a:rPr lang="pt-BR" dirty="0"/>
              <a:t>que</a:t>
            </a:r>
            <a:r>
              <a:rPr dirty="0"/>
              <a:t> </a:t>
            </a:r>
            <a:r>
              <a:rPr dirty="0" err="1"/>
              <a:t>gera</a:t>
            </a:r>
            <a:r>
              <a:rPr dirty="0"/>
              <a:t> </a:t>
            </a:r>
            <a:r>
              <a:rPr dirty="0" err="1"/>
              <a:t>incidente</a:t>
            </a:r>
            <a:r>
              <a:rPr lang="pt-BR" dirty="0"/>
              <a:t> no ServiceNow para Telecom.</a:t>
            </a:r>
            <a:endParaRPr dirty="0"/>
          </a:p>
          <a:p>
            <a:pPr>
              <a:spcAft>
                <a:spcPts val="500"/>
              </a:spcAft>
              <a:defRPr sz="1500" b="0">
                <a:solidFill>
                  <a:srgbClr val="B0C5DB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Existe</a:t>
            </a:r>
            <a:r>
              <a:rPr dirty="0"/>
              <a:t> KB com testes </a:t>
            </a:r>
            <a:r>
              <a:rPr dirty="0" err="1"/>
              <a:t>manuais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500" b="0">
                <a:solidFill>
                  <a:srgbClr val="B0C5DB"/>
                </a:solidFill>
                <a:latin typeface="Aptos"/>
              </a:defRPr>
            </a:pPr>
            <a:r>
              <a:rPr dirty="0"/>
              <a:t>• Telecom </a:t>
            </a:r>
            <a:r>
              <a:rPr dirty="0" err="1"/>
              <a:t>analisa</a:t>
            </a:r>
            <a:r>
              <a:rPr dirty="0"/>
              <a:t>, </a:t>
            </a:r>
            <a:r>
              <a:rPr dirty="0" err="1"/>
              <a:t>trata</a:t>
            </a:r>
            <a:r>
              <a:rPr dirty="0"/>
              <a:t> e </a:t>
            </a:r>
            <a:r>
              <a:rPr dirty="0" err="1"/>
              <a:t>encerra</a:t>
            </a:r>
            <a:r>
              <a:rPr dirty="0"/>
              <a:t> o </a:t>
            </a:r>
            <a:r>
              <a:rPr dirty="0" err="1"/>
              <a:t>chamado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500" b="0">
                <a:solidFill>
                  <a:srgbClr val="B0C5DB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Diferente</a:t>
            </a:r>
            <a:r>
              <a:rPr dirty="0"/>
              <a:t> do “clear” </a:t>
            </a:r>
            <a:r>
              <a:rPr dirty="0" err="1"/>
              <a:t>automático</a:t>
            </a:r>
            <a:r>
              <a:rPr dirty="0"/>
              <a:t> </a:t>
            </a:r>
            <a:r>
              <a:rPr dirty="0" err="1"/>
              <a:t>citado</a:t>
            </a:r>
            <a:r>
              <a:rPr dirty="0"/>
              <a:t> para High CPU/Memory, </a:t>
            </a:r>
            <a:r>
              <a:rPr dirty="0" err="1"/>
              <a:t>pode</a:t>
            </a:r>
            <a:r>
              <a:rPr dirty="0"/>
              <a:t> haver </a:t>
            </a:r>
            <a:r>
              <a:rPr dirty="0" err="1"/>
              <a:t>resolução</a:t>
            </a:r>
            <a:r>
              <a:rPr dirty="0"/>
              <a:t> </a:t>
            </a:r>
            <a:r>
              <a:rPr dirty="0" err="1"/>
              <a:t>atribuível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fluxo</a:t>
            </a:r>
            <a:r>
              <a:rPr dirty="0"/>
              <a:t> Ansible.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81328"/>
            <a:ext cx="5385816" cy="3502152"/>
          </a:xfrm>
          <a:prstGeom prst="roundRect">
            <a:avLst/>
          </a:prstGeom>
          <a:solidFill>
            <a:srgbClr val="0E2749"/>
          </a:solidFill>
          <a:ln w="16510">
            <a:solidFill>
              <a:srgbClr val="FF7F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65966" y="1756522"/>
            <a:ext cx="59436" cy="320040"/>
          </a:xfrm>
          <a:prstGeom prst="rect">
            <a:avLst/>
          </a:prstGeom>
          <a:solidFill>
            <a:srgbClr val="FF7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0558" y="1719946"/>
            <a:ext cx="4956048" cy="402336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7FAFF"/>
                </a:solidFill>
                <a:latin typeface="Aptos"/>
              </a:defRPr>
            </a:pPr>
            <a:r>
              <a:t>Discovery técnico necessário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17066"/>
            <a:ext cx="4946904" cy="1484509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B0C5DB"/>
                </a:solidFill>
                <a:latin typeface="Aptos"/>
              </a:defRPr>
            </a:pPr>
            <a:r>
              <a:rPr sz="1500" dirty="0"/>
              <a:t>• Validar </a:t>
            </a:r>
            <a:r>
              <a:rPr sz="1500" dirty="0" err="1"/>
              <a:t>alteração</a:t>
            </a:r>
            <a:r>
              <a:rPr sz="1500" dirty="0"/>
              <a:t> </a:t>
            </a:r>
            <a:r>
              <a:rPr sz="1500" dirty="0" err="1"/>
              <a:t>causadora</a:t>
            </a:r>
            <a:r>
              <a:rPr sz="1500" dirty="0"/>
              <a:t> / change.</a:t>
            </a:r>
          </a:p>
          <a:p>
            <a:pPr>
              <a:spcAft>
                <a:spcPts val="500"/>
              </a:spcAft>
              <a:defRPr sz="1400" b="0">
                <a:solidFill>
                  <a:srgbClr val="B0C5DB"/>
                </a:solidFill>
                <a:latin typeface="Aptos"/>
              </a:defRPr>
            </a:pPr>
            <a:r>
              <a:rPr sz="1500" dirty="0"/>
              <a:t>• </a:t>
            </a:r>
            <a:r>
              <a:rPr sz="1500" dirty="0" err="1"/>
              <a:t>Verificar</a:t>
            </a:r>
            <a:r>
              <a:rPr sz="1500" dirty="0"/>
              <a:t> </a:t>
            </a:r>
            <a:r>
              <a:rPr sz="1500" dirty="0" err="1"/>
              <a:t>conectividade</a:t>
            </a:r>
            <a:r>
              <a:rPr sz="1500" dirty="0"/>
              <a:t> e </a:t>
            </a:r>
            <a:r>
              <a:rPr sz="1500" dirty="0" err="1"/>
              <a:t>autenticação</a:t>
            </a:r>
            <a:r>
              <a:rPr sz="1500" dirty="0"/>
              <a:t>.</a:t>
            </a:r>
          </a:p>
          <a:p>
            <a:pPr>
              <a:spcAft>
                <a:spcPts val="500"/>
              </a:spcAft>
              <a:defRPr sz="1400" b="0">
                <a:solidFill>
                  <a:srgbClr val="B0C5DB"/>
                </a:solidFill>
                <a:latin typeface="Aptos"/>
              </a:defRPr>
            </a:pPr>
            <a:r>
              <a:rPr sz="1500" dirty="0"/>
              <a:t>• </a:t>
            </a:r>
            <a:r>
              <a:rPr sz="1500" dirty="0" err="1"/>
              <a:t>Inspecionar</a:t>
            </a:r>
            <a:r>
              <a:rPr sz="1500" dirty="0"/>
              <a:t> </a:t>
            </a:r>
            <a:r>
              <a:rPr sz="1500" dirty="0" err="1"/>
              <a:t>configuração</a:t>
            </a:r>
            <a:r>
              <a:rPr sz="1500" dirty="0"/>
              <a:t> e hardening.</a:t>
            </a:r>
          </a:p>
          <a:p>
            <a:pPr>
              <a:spcAft>
                <a:spcPts val="500"/>
              </a:spcAft>
              <a:defRPr sz="1400" b="0">
                <a:solidFill>
                  <a:srgbClr val="B0C5DB"/>
                </a:solidFill>
                <a:latin typeface="Aptos"/>
              </a:defRPr>
            </a:pPr>
            <a:r>
              <a:rPr sz="1500" dirty="0"/>
              <a:t>• </a:t>
            </a:r>
            <a:r>
              <a:rPr sz="1500" dirty="0" err="1"/>
              <a:t>Definir</a:t>
            </a:r>
            <a:r>
              <a:rPr sz="1500" dirty="0"/>
              <a:t> </a:t>
            </a:r>
            <a:r>
              <a:rPr sz="1500" dirty="0" err="1"/>
              <a:t>remediações</a:t>
            </a:r>
            <a:r>
              <a:rPr sz="1500" dirty="0"/>
              <a:t> </a:t>
            </a:r>
            <a:r>
              <a:rPr sz="1500" dirty="0" err="1"/>
              <a:t>seguras</a:t>
            </a:r>
            <a:r>
              <a:rPr sz="1500" dirty="0"/>
              <a:t>, rollback e </a:t>
            </a:r>
            <a:r>
              <a:rPr sz="1500" dirty="0" err="1"/>
              <a:t>pós</a:t>
            </a:r>
            <a:r>
              <a:rPr sz="1500" dirty="0"/>
              <a:t>-check.</a:t>
            </a:r>
          </a:p>
          <a:p>
            <a:pPr>
              <a:spcAft>
                <a:spcPts val="500"/>
              </a:spcAft>
              <a:defRPr sz="1400" b="0">
                <a:solidFill>
                  <a:srgbClr val="B0C5DB"/>
                </a:solidFill>
                <a:latin typeface="Aptos"/>
              </a:defRPr>
            </a:pPr>
            <a:r>
              <a:rPr sz="1500" dirty="0"/>
              <a:t>• </a:t>
            </a:r>
            <a:r>
              <a:rPr sz="1500" dirty="0" err="1"/>
              <a:t>Confirmar</a:t>
            </a:r>
            <a:r>
              <a:rPr sz="1500" dirty="0"/>
              <a:t> </a:t>
            </a:r>
            <a:r>
              <a:rPr sz="1500" dirty="0" err="1"/>
              <a:t>regras</a:t>
            </a:r>
            <a:r>
              <a:rPr sz="1500" dirty="0"/>
              <a:t> de </a:t>
            </a:r>
            <a:r>
              <a:rPr sz="1500" dirty="0" err="1"/>
              <a:t>resolução</a:t>
            </a:r>
            <a:r>
              <a:rPr sz="1500" dirty="0"/>
              <a:t> e </a:t>
            </a:r>
            <a:r>
              <a:rPr sz="1500" dirty="0" err="1"/>
              <a:t>contabilização</a:t>
            </a:r>
            <a:r>
              <a:rPr sz="1500" dirty="0"/>
              <a:t> no KR.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294376"/>
            <a:ext cx="10789920" cy="658368"/>
          </a:xfrm>
          <a:prstGeom prst="roundRect">
            <a:avLst/>
          </a:prstGeom>
          <a:solidFill>
            <a:srgbClr val="1A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1622" y="5476822"/>
            <a:ext cx="10625328" cy="304699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7FAFF"/>
                </a:solidFill>
                <a:latin typeface="Aptos"/>
              </a:defRPr>
            </a:pPr>
            <a:r>
              <a:rPr sz="1500" b="1" dirty="0" err="1">
                <a:solidFill>
                  <a:srgbClr val="FF7F21"/>
                </a:solidFill>
                <a:latin typeface="Aptos"/>
              </a:rPr>
              <a:t>Recomendação</a:t>
            </a:r>
            <a:r>
              <a:rPr sz="1500" b="1" dirty="0">
                <a:solidFill>
                  <a:srgbClr val="FF7F21"/>
                </a:solidFill>
                <a:latin typeface="Aptos"/>
              </a:rPr>
              <a:t>: </a:t>
            </a:r>
            <a:r>
              <a:rPr lang="pt-BR" dirty="0"/>
              <a:t>M</a:t>
            </a:r>
            <a:r>
              <a:rPr dirty="0" err="1"/>
              <a:t>anter</a:t>
            </a:r>
            <a:r>
              <a:rPr dirty="0"/>
              <a:t> Falha de Backup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opção</a:t>
            </a:r>
            <a:r>
              <a:rPr dirty="0"/>
              <a:t> para a R4</a:t>
            </a:r>
            <a:r>
              <a:rPr lang="pt-BR" dirty="0"/>
              <a:t> e </a:t>
            </a:r>
            <a:r>
              <a:rPr dirty="0" err="1"/>
              <a:t>mapear</a:t>
            </a:r>
            <a:r>
              <a:rPr dirty="0"/>
              <a:t> o </a:t>
            </a:r>
            <a:r>
              <a:rPr dirty="0" err="1"/>
              <a:t>processo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antes de </a:t>
            </a:r>
            <a:r>
              <a:rPr dirty="0" err="1"/>
              <a:t>assumir</a:t>
            </a:r>
            <a:r>
              <a:rPr dirty="0"/>
              <a:t> </a:t>
            </a:r>
            <a:r>
              <a:rPr dirty="0" err="1"/>
              <a:t>escopo</a:t>
            </a:r>
            <a:r>
              <a:rPr dirty="0"/>
              <a:t> e </a:t>
            </a:r>
            <a:r>
              <a:rPr dirty="0" err="1"/>
              <a:t>prazo</a:t>
            </a:r>
            <a:r>
              <a:rPr lang="pt-BR" dirty="0"/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474</Words>
  <Application>Microsoft Office PowerPoint</Application>
  <PresentationFormat>Custom</PresentationFormat>
  <Paragraphs>52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Yasmim Duarte</cp:lastModifiedBy>
  <cp:revision>3</cp:revision>
  <dcterms:created xsi:type="dcterms:W3CDTF">2013-01-27T09:14:16Z</dcterms:created>
  <dcterms:modified xsi:type="dcterms:W3CDTF">2026-10-14T10:36:07Z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637e5cc-ed1f-4ad6-a881-35c0f1c6f3d8_Enabled">
    <vt:lpwstr>true</vt:lpwstr>
  </property>
  <property fmtid="{D5CDD505-2E9C-101B-9397-08002B2CF9AE}" pid="3" name="MSIP_Label_4637e5cc-ed1f-4ad6-a881-35c0f1c6f3d8_SetDate">
    <vt:lpwstr>2026-10-14T10:25:11Z</vt:lpwstr>
  </property>
  <property fmtid="{D5CDD505-2E9C-101B-9397-08002B2CF9AE}" pid="4" name="MSIP_Label_4637e5cc-ed1f-4ad6-a881-35c0f1c6f3d8_Method">
    <vt:lpwstr>Standard</vt:lpwstr>
  </property>
  <property fmtid="{D5CDD505-2E9C-101B-9397-08002B2CF9AE}" pid="5" name="MSIP_Label_4637e5cc-ed1f-4ad6-a881-35c0f1c6f3d8_Name">
    <vt:lpwstr>General</vt:lpwstr>
  </property>
  <property fmtid="{D5CDD505-2E9C-101B-9397-08002B2CF9AE}" pid="6" name="MSIP_Label_4637e5cc-ed1f-4ad6-a881-35c0f1c6f3d8_SiteId">
    <vt:lpwstr>e3cf3c98-a978-465f-8254-9d541eeea73c</vt:lpwstr>
  </property>
  <property fmtid="{D5CDD505-2E9C-101B-9397-08002B2CF9AE}" pid="7" name="MSIP_Label_4637e5cc-ed1f-4ad6-a881-35c0f1c6f3d8_ActionId">
    <vt:lpwstr>57405d4e-e64f-4d02-bb36-94623394677a</vt:lpwstr>
  </property>
  <property fmtid="{D5CDD505-2E9C-101B-9397-08002B2CF9AE}" pid="8" name="MSIP_Label_4637e5cc-ed1f-4ad6-a881-35c0f1c6f3d8_ContentBits">
    <vt:lpwstr>2</vt:lpwstr>
  </property>
  <property fmtid="{D5CDD505-2E9C-101B-9397-08002B2CF9AE}" pid="9" name="MSIP_Label_4637e5cc-ed1f-4ad6-a881-35c0f1c6f3d8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Sensitivity Label: General</vt:lpwstr>
  </property>
</Properties>
</file>