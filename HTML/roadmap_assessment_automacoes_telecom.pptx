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Top 10 — quantidade de incidentes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306998"/>
            </a:solidFill>
            <a:ln>
              <a:solidFill>
                <a:srgbClr val="306998"/>
              </a:solidFill>
            </a:ln>
          </c:spPr>
          <c:cat>
            <c:strRef>
              <c:f>Sheet1!$A$2:$A$11</c:f>
              <c:strCache>
                <c:ptCount val="10"/>
                <c:pt idx="0">
                  <c:v>Bad link</c:v>
                </c:pt>
                <c:pt idx="1">
                  <c:v>OSPF neighbor</c:v>
                </c:pt>
                <c:pt idx="2">
                  <c:v>Equip. down</c:v>
                </c:pt>
                <c:pt idx="3">
                  <c:v>OSPF interface</c:v>
                </c:pt>
                <c:pt idx="4">
                  <c:v>IPSLA loss</c:v>
                </c:pt>
                <c:pt idx="5">
                  <c:v>BGP down</c:v>
                </c:pt>
                <c:pt idx="6">
                  <c:v>HSRP</c:v>
                </c:pt>
                <c:pt idx="7">
                  <c:v>Interface errors</c:v>
                </c:pt>
                <c:pt idx="8">
                  <c:v>JNX LDP</c:v>
                </c:pt>
                <c:pt idx="9">
                  <c:v>Uptime reset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5446</c:v>
                </c:pt>
                <c:pt idx="1">
                  <c:v>4373</c:v>
                </c:pt>
                <c:pt idx="2">
                  <c:v>2584</c:v>
                </c:pt>
                <c:pt idx="3">
                  <c:v>1459</c:v>
                </c:pt>
                <c:pt idx="4">
                  <c:v>1255</c:v>
                </c:pt>
                <c:pt idx="5">
                  <c:v>927</c:v>
                </c:pt>
                <c:pt idx="6">
                  <c:v>459</c:v>
                </c:pt>
                <c:pt idx="7">
                  <c:v>379</c:v>
                </c:pt>
                <c:pt idx="8">
                  <c:v>335</c:v>
                </c:pt>
                <c:pt idx="9">
                  <c:v>283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698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273A"/>
                </a:solidFill>
              </a:defRPr>
            </a:pPr>
            <a:r>
              <a:t>Assessment das Automações Telecom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87168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06998"/>
                </a:solidFill>
              </a:defRPr>
            </a:pPr>
            <a:r>
              <a:t>Diagnóstico inicial, critérios de priorização e roadmap de evolução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03320"/>
            <a:ext cx="3337560" cy="132588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703320"/>
            <a:ext cx="54864" cy="132588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81304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8273A"/>
                </a:solidFill>
              </a:defRPr>
            </a:pPr>
            <a:r>
              <a:t>Objetivo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Entender o ecossistema atual antes de propor mudanças arquiteturais.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370332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6552" y="3703320"/>
            <a:ext cx="54864" cy="132588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381304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8273A"/>
                </a:solidFill>
              </a:defRPr>
            </a:pPr>
            <a:r>
              <a:t>Abordagem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Volumetria + arquitetura + eficiência operacional.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370332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1583" y="3703320"/>
            <a:ext cx="54864" cy="1325880"/>
          </a:xfrm>
          <a:prstGeom prst="rect">
            <a:avLst/>
          </a:prstGeom>
          <a:solidFill>
            <a:srgbClr val="B7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381304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8273A"/>
                </a:solidFill>
              </a:defRPr>
            </a:pPr>
            <a:r>
              <a:t>Case inicial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BADLINK como referência para validar o modelo de melhoria.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623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6707A"/>
                </a:solidFill>
              </a:defRPr>
            </a:pPr>
            <a:r>
              <a:t>Status: levantamento em andamento — arquitetura e responsabilidades ainda precisam ser validadas com operação e owners.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Assessment das Automações Telecom  |  Diagnóstico preliminar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6707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73A"/>
                </a:solidFill>
              </a:defRPr>
            </a:pPr>
            <a:r>
              <a:t>Cenário atual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7A"/>
                </a:solidFill>
              </a:defRPr>
            </a:pPr>
            <a:r>
              <a:t>Distribuição preliminar das automações e pontos que ainda precisam ser confirmados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12080" cy="3337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4864" cy="333756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18488"/>
            <a:ext cx="4919472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273A"/>
                </a:solidFill>
              </a:defRPr>
            </a:pPr>
            <a:r>
              <a:t>ServiceNow — Flow Designer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Concentra a maior parte das automações do backlog de Links com Falha.</a:t>
            </a:r>
            <a:br/>
            <a:br/>
            <a:r>
              <a:t>Exemplos levantados: OSPF, HSRP, BGP, BFD e outros fluxos.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5212080" cy="333756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4864" cy="333756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618488"/>
            <a:ext cx="4919472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273A"/>
                </a:solidFill>
              </a:defRPr>
            </a:pPr>
            <a:r>
              <a:t>AAP / Ansible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Automação técnica identificada para BADLINK e High CPU/Memory.</a:t>
            </a:r>
            <a:br/>
            <a:br/>
            <a:r>
              <a:t>BADLINK já está sendo analisado e refatorado como primeiro case.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154680"/>
            <a:ext cx="457200" cy="0"/>
          </a:xfrm>
          <a:prstGeom prst="line">
            <a:avLst/>
          </a:prstGeom>
          <a:ln w="19050">
            <a:solidFill>
              <a:srgbClr val="66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5138928"/>
            <a:ext cx="3429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5138928"/>
            <a:ext cx="54864" cy="868680"/>
          </a:xfrm>
          <a:prstGeom prst="rect">
            <a:avLst/>
          </a:prstGeom>
          <a:solidFill>
            <a:srgbClr val="B7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248656"/>
            <a:ext cx="3136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73A"/>
                </a:solidFill>
              </a:defRPr>
            </a:pPr>
            <a:r>
              <a:t>Hierarquia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Validar se há dependência técnica ou apenas agrupamento de volumetria.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138928"/>
            <a:ext cx="3429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5138928"/>
            <a:ext cx="54864" cy="868680"/>
          </a:xfrm>
          <a:prstGeom prst="rect">
            <a:avLst/>
          </a:prstGeom>
          <a:solidFill>
            <a:srgbClr val="B7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5248656"/>
            <a:ext cx="3136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73A"/>
                </a:solidFill>
              </a:defRPr>
            </a:pPr>
            <a:r>
              <a:t>Responsabilidade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Definir o que deve permanecer em ITSM e o que é execução técnica.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5138928"/>
            <a:ext cx="3429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5138928"/>
            <a:ext cx="54864" cy="868680"/>
          </a:xfrm>
          <a:prstGeom prst="rect">
            <a:avLst/>
          </a:prstGeom>
          <a:solidFill>
            <a:srgbClr val="B7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5248656"/>
            <a:ext cx="31363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73A"/>
                </a:solidFill>
              </a:defRPr>
            </a:pPr>
            <a:r>
              <a:t>Arquitetura alvo</a:t>
            </a:r>
          </a:p>
          <a:p>
            <a:pPr>
              <a:spcBef>
                <a:spcPts val="600"/>
              </a:spcBef>
              <a:defRPr sz="1000">
                <a:solidFill>
                  <a:srgbClr val="212529"/>
                </a:solidFill>
              </a:defRPr>
            </a:pPr>
            <a:r>
              <a:t>Não assumir migração: avaliar manter, refatorar, hibridizar ou migrar.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Assessment das Automações Telecom  |  Diagnóstico preliminar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670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73A"/>
                </a:solidFill>
              </a:defRPr>
            </a:pPr>
            <a:r>
              <a:t>Volumetria — base analisada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7A"/>
                </a:solidFill>
              </a:defRPr>
            </a:pPr>
            <a:r>
              <a:t>A priorização começa pelos dados, mas não deve considerar somente quantidade de incidentes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508760"/>
          <a:ext cx="67665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26679" y="1600200"/>
            <a:ext cx="3794760" cy="11430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600200"/>
            <a:ext cx="54864" cy="11430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91271" y="1709928"/>
            <a:ext cx="35021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900">
                <a:solidFill>
                  <a:srgbClr val="18273A"/>
                </a:solidFill>
              </a:defRPr>
            </a:pPr>
            <a:r>
              <a:t>25.875 registros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Base total analisada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880360"/>
            <a:ext cx="3794760" cy="114300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2880360"/>
            <a:ext cx="54864" cy="114300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2990088"/>
            <a:ext cx="35021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900">
                <a:solidFill>
                  <a:srgbClr val="18273A"/>
                </a:solidFill>
              </a:defRPr>
            </a:pPr>
            <a:r>
              <a:t>67,63%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Representatividade do Top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160520"/>
            <a:ext cx="3794760" cy="11430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4160520"/>
            <a:ext cx="54864" cy="1143000"/>
          </a:xfrm>
          <a:prstGeom prst="rect">
            <a:avLst/>
          </a:prstGeom>
          <a:solidFill>
            <a:srgbClr val="B7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4270248"/>
            <a:ext cx="35021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900">
                <a:solidFill>
                  <a:srgbClr val="18273A"/>
                </a:solidFill>
              </a:defRPr>
            </a:pPr>
            <a:r>
              <a:t>37,95%</a:t>
            </a:r>
          </a:p>
          <a:p>
            <a:pPr>
              <a:spcBef>
                <a:spcPts val="600"/>
              </a:spcBef>
              <a:defRPr sz="1100">
                <a:solidFill>
                  <a:srgbClr val="212529"/>
                </a:solidFill>
              </a:defRPr>
            </a:pPr>
            <a:r>
              <a:t>BADLINK + OSPF neighbor state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504688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12529"/>
                </a:solidFill>
              </a:defRPr>
            </a:pPr>
            <a:r>
              <a:t>BADLINK: 5.446 incidentes (21,05%) — maior ocorrência individual da 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Assessment das Automações Telecom  |  Diagnóstico preliminar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670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73A"/>
                </a:solidFill>
              </a:defRPr>
            </a:pPr>
            <a:r>
              <a:t>Case inicial — BADLINK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7A"/>
                </a:solidFill>
              </a:defRPr>
            </a:pPr>
            <a:r>
              <a:t>Primeiro fluxo utilizado para entender e estabelecer um padrão de melhoria das automações Telecom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1691640" cy="114300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864" cy="11430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1399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73A"/>
                </a:solidFill>
              </a:defRPr>
            </a:pPr>
            <a:r>
              <a:t>Itaumon</a:t>
            </a:r>
          </a:p>
          <a:p>
            <a:pPr>
              <a:spcBef>
                <a:spcPts val="600"/>
              </a:spcBef>
              <a:defRPr sz="950">
                <a:solidFill>
                  <a:srgbClr val="212529"/>
                </a:solidFill>
              </a:defRPr>
            </a:pPr>
            <a:r>
              <a:t>Consulta do link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12848" y="2221992"/>
            <a:ext cx="228600" cy="0"/>
          </a:xfrm>
          <a:prstGeom prst="line">
            <a:avLst/>
          </a:prstGeom>
          <a:ln w="17780">
            <a:solidFill>
              <a:srgbClr val="66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04872" y="1645920"/>
            <a:ext cx="1691640" cy="114300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04872" y="1645920"/>
            <a:ext cx="54864" cy="11430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1755648"/>
            <a:ext cx="1399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73A"/>
                </a:solidFill>
              </a:defRPr>
            </a:pPr>
            <a:r>
              <a:t>Elegibilidade</a:t>
            </a:r>
          </a:p>
          <a:p>
            <a:pPr>
              <a:spcBef>
                <a:spcPts val="600"/>
              </a:spcBef>
              <a:defRPr sz="950">
                <a:solidFill>
                  <a:srgbClr val="212529"/>
                </a:solidFill>
              </a:defRPr>
            </a:pPr>
            <a:r>
              <a:t>Classificação LAN/WAN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221992"/>
            <a:ext cx="228600" cy="0"/>
          </a:xfrm>
          <a:prstGeom prst="line">
            <a:avLst/>
          </a:prstGeom>
          <a:ln w="17780">
            <a:solidFill>
              <a:srgbClr val="66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06824" y="164592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645920"/>
            <a:ext cx="54864" cy="114300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1755648"/>
            <a:ext cx="1399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73A"/>
                </a:solidFill>
              </a:defRPr>
            </a:pPr>
            <a:r>
              <a:t>BADLINK</a:t>
            </a:r>
          </a:p>
          <a:p>
            <a:pPr>
              <a:spcBef>
                <a:spcPts val="600"/>
              </a:spcBef>
              <a:defRPr sz="950">
                <a:solidFill>
                  <a:srgbClr val="212529"/>
                </a:solidFill>
              </a:defRPr>
            </a:pPr>
            <a:r>
              <a:t>Execução técnica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16752" y="2221992"/>
            <a:ext cx="228600" cy="0"/>
          </a:xfrm>
          <a:prstGeom prst="line">
            <a:avLst/>
          </a:prstGeom>
          <a:ln w="17780">
            <a:solidFill>
              <a:srgbClr val="66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08776" y="164592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645920"/>
            <a:ext cx="54864" cy="114300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755648"/>
            <a:ext cx="1399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73A"/>
                </a:solidFill>
              </a:defRPr>
            </a:pPr>
            <a:r>
              <a:t>Diagnóstico</a:t>
            </a:r>
          </a:p>
          <a:p>
            <a:pPr>
              <a:spcBef>
                <a:spcPts val="600"/>
              </a:spcBef>
              <a:defRPr sz="950">
                <a:solidFill>
                  <a:srgbClr val="212529"/>
                </a:solidFill>
              </a:defRPr>
            </a:pPr>
            <a:r>
              <a:t>Show interface + classificação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18704" y="2221992"/>
            <a:ext cx="228600" cy="0"/>
          </a:xfrm>
          <a:prstGeom prst="line">
            <a:avLst/>
          </a:prstGeom>
          <a:ln w="17780">
            <a:solidFill>
              <a:srgbClr val="66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10728" y="164592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0728" y="1645920"/>
            <a:ext cx="54864" cy="114300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755648"/>
            <a:ext cx="1399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73A"/>
                </a:solidFill>
              </a:defRPr>
            </a:pPr>
            <a:r>
              <a:t>Decisão</a:t>
            </a:r>
          </a:p>
          <a:p>
            <a:pPr>
              <a:spcBef>
                <a:spcPts val="600"/>
              </a:spcBef>
              <a:defRPr sz="950">
                <a:solidFill>
                  <a:srgbClr val="212529"/>
                </a:solidFill>
              </a:defRPr>
            </a:pPr>
            <a:r>
              <a:t>Estado do incidente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20656" y="2221992"/>
            <a:ext cx="228600" cy="0"/>
          </a:xfrm>
          <a:prstGeom prst="line">
            <a:avLst/>
          </a:prstGeom>
          <a:ln w="17780">
            <a:solidFill>
              <a:srgbClr val="66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12680" y="164592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12680" y="1645920"/>
            <a:ext cx="54864" cy="114300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1755648"/>
            <a:ext cx="13990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8273A"/>
                </a:solidFill>
              </a:defRPr>
            </a:pPr>
            <a:r>
              <a:t>ServiceNow</a:t>
            </a:r>
          </a:p>
          <a:p>
            <a:pPr>
              <a:spcBef>
                <a:spcPts val="600"/>
              </a:spcBef>
              <a:defRPr sz="950">
                <a:solidFill>
                  <a:srgbClr val="212529"/>
                </a:solidFill>
              </a:defRPr>
            </a:pPr>
            <a:r>
              <a:t>Atualização / encerramento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246120"/>
            <a:ext cx="5212080" cy="21488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246120"/>
            <a:ext cx="54864" cy="214884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3355848"/>
            <a:ext cx="49194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273A"/>
                </a:solidFill>
              </a:defRPr>
            </a:pPr>
            <a:r>
              <a:t>O que já foi trabalhado</a:t>
            </a:r>
          </a:p>
          <a:p>
            <a:pPr>
              <a:spcBef>
                <a:spcPts val="600"/>
              </a:spcBef>
              <a:defRPr sz="1150">
                <a:solidFill>
                  <a:srgbClr val="212529"/>
                </a:solidFill>
              </a:defRPr>
            </a:pPr>
            <a:r>
              <a:t>• Consulta ao Itaumon com contrato de saída explícito</a:t>
            </a:r>
            <a:br/>
            <a:r>
              <a:t>• Elegibilidade LAN/WAN baseada no resultado da consulta</a:t>
            </a:r>
            <a:br/>
            <a:r>
              <a:t>• Execuções isoladas e dentro do workflow</a:t>
            </a:r>
            <a:br/>
            <a:r>
              <a:t>• Tratamento estruturado de falhas no BADLINK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246120"/>
            <a:ext cx="5212080" cy="214884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246120"/>
            <a:ext cx="54864" cy="214884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3355848"/>
            <a:ext cx="49194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8273A"/>
                </a:solidFill>
              </a:defRPr>
            </a:pPr>
            <a:r>
              <a:t>Ganho técnico observado</a:t>
            </a:r>
          </a:p>
          <a:p>
            <a:pPr>
              <a:spcBef>
                <a:spcPts val="600"/>
              </a:spcBef>
              <a:defRPr sz="1150">
                <a:solidFill>
                  <a:srgbClr val="212529"/>
                </a:solidFill>
              </a:defRPr>
            </a:pPr>
            <a:r>
              <a:t>• Menor acoplamento implícito entre etapas</a:t>
            </a:r>
            <a:br/>
            <a:r>
              <a:t>• Resultado mais previsível para os próximos JTs</a:t>
            </a:r>
            <a:br/>
            <a:r>
              <a:t>• Maior rastreabilidade do diagnóstico</a:t>
            </a:r>
            <a:br/>
            <a:r>
              <a:t>• Separação entre falha da automação e falha/conectividade do equipamento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8273A"/>
                </a:solidFill>
              </a:defRPr>
            </a:pPr>
            <a:r>
              <a:t>BADLINK passa a funcionar como referência de contrato, observabilidade e tratamento de erro para avaliar os próximos fluxos.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Assessment das Automações Telecom  |  Diagnóstico preliminar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670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73A"/>
                </a:solidFill>
              </a:defRPr>
            </a:pPr>
            <a:r>
              <a:t>Roadmap proposto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7A"/>
                </a:solidFill>
              </a:defRPr>
            </a:pPr>
            <a:r>
              <a:t>Evolução em quatro fases, sem assumir previamente que a solução é migrar Flow Designer para Ansible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560320" cy="29718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54864" cy="297180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01368"/>
            <a:ext cx="226771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8273A"/>
                </a:solidFill>
              </a:defRPr>
            </a:pPr>
            <a:r>
              <a:t>1. Discovery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Mapear eventos, owners, entradas, dependências, ações, equipamentos e resultados.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90672" y="3154680"/>
            <a:ext cx="265176" cy="0"/>
          </a:xfrm>
          <a:prstGeom prst="line">
            <a:avLst/>
          </a:prstGeom>
          <a:ln w="19050">
            <a:solidFill>
              <a:srgbClr val="66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55848" y="1691640"/>
            <a:ext cx="2560320" cy="297180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691640"/>
            <a:ext cx="54864" cy="297180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01368"/>
            <a:ext cx="226771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8273A"/>
                </a:solidFill>
              </a:defRPr>
            </a:pPr>
            <a:r>
              <a:t>2. Assessment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Identificar gargalos, falhas, intervenção manual e papel de ServiceNow × AAP.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3154680"/>
            <a:ext cx="265176" cy="0"/>
          </a:xfrm>
          <a:prstGeom prst="line">
            <a:avLst/>
          </a:prstGeom>
          <a:ln w="19050">
            <a:solidFill>
              <a:srgbClr val="66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08776" y="1691640"/>
            <a:ext cx="2560320" cy="29718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691640"/>
            <a:ext cx="54864" cy="2971800"/>
          </a:xfrm>
          <a:prstGeom prst="rect">
            <a:avLst/>
          </a:prstGeom>
          <a:solidFill>
            <a:srgbClr val="B7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01368"/>
            <a:ext cx="226771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8273A"/>
                </a:solidFill>
              </a:defRPr>
            </a:pPr>
            <a:r>
              <a:t>3. Priorização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Cruzar volumetria, esforço manual, taxa de falha, tempo e impacto operacional.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96528" y="3154680"/>
            <a:ext cx="265176" cy="0"/>
          </a:xfrm>
          <a:prstGeom prst="line">
            <a:avLst/>
          </a:prstGeom>
          <a:ln w="19050">
            <a:solidFill>
              <a:srgbClr val="667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61704" y="1691640"/>
            <a:ext cx="2560320" cy="297180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691640"/>
            <a:ext cx="54864" cy="2971800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801368"/>
            <a:ext cx="226771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8273A"/>
                </a:solidFill>
              </a:defRPr>
            </a:pPr>
            <a:r>
              <a:t>4. Evolução</a:t>
            </a:r>
          </a:p>
          <a:p>
            <a:pPr>
              <a:spcBef>
                <a:spcPts val="600"/>
              </a:spcBef>
              <a:defRPr sz="1200">
                <a:solidFill>
                  <a:srgbClr val="212529"/>
                </a:solidFill>
              </a:defRPr>
            </a:pPr>
            <a:r>
              <a:t>Decidir por fluxo: manter, refatorar, hibridizar ou migrar.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074920"/>
            <a:ext cx="10241280" cy="868680"/>
          </a:xfrm>
          <a:prstGeom prst="round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248656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Prioridade = volumetria + esforço manual + taxa de falha + tempo de resolução + impacto + potencial de automação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Assessment das Automações Telecom  |  Diagnóstico preliminar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670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73A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6707A"/>
                </a:solidFill>
              </a:defRPr>
            </a:pPr>
            <a:r>
              <a:t>Fechar lacunas do discovery e transformar o levantamento em backlog priorizado de evolução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32004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440680" cy="41605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4864" cy="4160520"/>
          </a:xfrm>
          <a:prstGeom prst="rect">
            <a:avLst/>
          </a:prstGeom>
          <a:solidFill>
            <a:srgbClr val="30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18488"/>
            <a:ext cx="5148072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8273A"/>
                </a:solidFill>
              </a:defRPr>
            </a:pPr>
            <a:r>
              <a:t>Discovery técnico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00600" cy="3246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Validar a hierarquia de “Links com Falha” e distinguir dependência técnica de agrupamento.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Mapear arquitetura atual ServiceNow × AAP e responsabilidades de cada camada.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Identificar owners e especialistas operacionais de cada automação.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Levantar taxa e principais causas de falha por fluxo.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440680" cy="4160520"/>
          </a:xfrm>
          <a:prstGeom prst="roundRect">
            <a:avLst/>
          </a:prstGeom>
          <a:solidFill>
            <a:srgbClr val="E5EFF7"/>
          </a:solidFill>
          <a:ln w="12700"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4864" cy="4160520"/>
          </a:xfrm>
          <a:prstGeom prst="rect">
            <a:avLst/>
          </a:prstGeom>
          <a:solidFill>
            <a:srgbClr val="46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18488"/>
            <a:ext cx="5148072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18273A"/>
                </a:solidFill>
              </a:defRPr>
            </a:pPr>
            <a:r>
              <a:t>Discovery operacional e priorização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800600" cy="324612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Entender o tratamento manual executado pela operação quando a automação falha.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Cruzar volumetria × esforço operacional × impacto.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Definir os candidatos prioritários para melhoria.</a:t>
            </a:r>
          </a:p>
          <a:p>
            <a:pPr>
              <a:spcAft>
                <a:spcPts val="600"/>
              </a:spcAft>
              <a:defRPr sz="1200">
                <a:solidFill>
                  <a:srgbClr val="212529"/>
                </a:solidFill>
              </a:defRPr>
            </a:pPr>
            <a:r>
              <a:t>• Usar BADLINK como primeiro case de referência e padrão técnico.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806440"/>
            <a:ext cx="10058400" cy="530352"/>
          </a:xfrm>
          <a:prstGeom prst="round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907024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Diretriz: migração é uma possível conclusão do assessment — não o ponto de partida.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Assessment das Automações Telecom  |  Diagnóstico preliminar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670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